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706" r:id="rId2"/>
    <p:sldMasterId id="2147483721" r:id="rId3"/>
    <p:sldMasterId id="2147483685" r:id="rId4"/>
  </p:sldMasterIdLst>
  <p:notesMasterIdLst>
    <p:notesMasterId r:id="rId12"/>
  </p:notesMasterIdLst>
  <p:handoutMasterIdLst>
    <p:handoutMasterId r:id="rId13"/>
  </p:handoutMasterIdLst>
  <p:sldIdLst>
    <p:sldId id="819" r:id="rId18"/>
    <p:sldId id="820" r:id="rId19"/>
    <p:sldId id="821" r:id="rId20"/>
    <p:sldId id="822" r:id="rId21"/>
    <p:sldId id="823" r:id="rId22"/>
    <p:sldId id="824" r:id="rId23"/>
    <p:sldId id="825" r:id="rId24"/>
    <p:sldId id="826" r:id="rId25"/>
    <p:sldId id="827" r:id="rId26"/>
    <p:sldId id="828" r:id="rId27"/>
    <p:sldId id="829" r:id="rId28"/>
    <p:sldId id="830" r:id="rId29"/>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a:srgbClr val="FF9933"/>
    <a:srgbClr val="2C4E8C"/>
    <a:srgbClr val="32599E"/>
    <a:srgbClr val="213B69"/>
    <a:srgbClr val="FFFFFF"/>
    <a:srgbClr val="FDCF4D"/>
    <a:srgbClr val="F0D510"/>
    <a:srgbClr val="EAF2BA"/>
    <a:srgbClr val="A5F5A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94496" autoAdjust="0"/>
  </p:normalViewPr>
  <p:slideViewPr>
    <p:cSldViewPr snapToGrid="0">
      <p:cViewPr varScale="1">
        <p:scale>
          <a:sx n="124" d="100"/>
          <a:sy n="124" d="100"/>
        </p:scale>
        <p:origin x="9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fld id="{0CC5B443-7A77-425A-AA94-D64ADAA08E7A}" type="datetimeFigureOut">
              <a:rPr lang="en-US" smtClean="0"/>
              <a:t>11/4/2022</a:t>
            </a:fld>
            <a:endParaRPr lang="en-US"/>
          </a:p>
        </p:txBody>
      </p:sp>
      <p:sp>
        <p:nvSpPr>
          <p:cNvPr id="4" name="Footer Placeholder 3"/>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9CC1180D-0869-42E5-AD4F-8E56F3CEAC67}" type="slidenum">
              <a:rPr lang="en-US" smtClean="0"/>
              <a:t>‹#›</a:t>
            </a:fld>
            <a:endParaRPr lang="en-US"/>
          </a:p>
        </p:txBody>
      </p:sp>
    </p:spTree>
    <p:extLst>
      <p:ext uri="{BB962C8B-B14F-4D97-AF65-F5344CB8AC3E}">
        <p14:creationId xmlns:p14="http://schemas.microsoft.com/office/powerpoint/2010/main" val="1765744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E75B26B8-008E-4B0B-AF5E-96369BC26E9E}" type="datetimeFigureOut">
              <a:rPr lang="en-US" smtClean="0"/>
              <a:t>11/4/2022</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E6E46B72-383E-4502-A229-FF6181FAA923}" type="slidenum">
              <a:rPr lang="en-US" smtClean="0"/>
              <a:t>‹#›</a:t>
            </a:fld>
            <a:endParaRPr lang="en-US"/>
          </a:p>
        </p:txBody>
      </p:sp>
    </p:spTree>
    <p:extLst>
      <p:ext uri="{BB962C8B-B14F-4D97-AF65-F5344CB8AC3E}">
        <p14:creationId xmlns:p14="http://schemas.microsoft.com/office/powerpoint/2010/main" val="3380496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orb itself, running on the table. This is the HOT Info Orbs: five round screens on one board, run by a Wi-Fi dev board about the size of a postage stamp. They show the time, the weather and the markets, and they keep themselves up to date. It's a Hands-On Tech club build: anyone in the club can make one and set it up from a phone or computer. Tonight: what it is, where it came from, a tour of the pages, how it's built, and how the club build will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round screens on one board, run by a Wi-Fi dev board about the size of a postage stamp. They show the time, the weather and the markets, and they keep themselves up to date. There is nothing to install on a computer: it powers from a USB cable, and every setting lives on a web page the orb serves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isn't ours. Brett Turner designed the original Info Orbs and shared the plans and software for free. Later HackerBoxes, a monthly electronics kit, sent out a version of it called Orbital. A couple of our members built that kit; these are Donald Champion's photos of his. We liked it enough to make our own: a new board, new features, and a build anyone in the club can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spreads across all five orbs. Press the middle button for a nixie tube face. Twelve or twenty-four hour, in any colors you like, and you can build in a custom face of your own. The weather page covers any town: what it's doing now and the next three days. If you own a Tempest weather station, it can drive the display instead; you can add up to two. Sunrise and sunset sit above the weather icon, and tonight's moon is drawn below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tickers, one per orb, with the price, the change and the day's range: stocks, funds or crypto. Left and right step through the pages; leave it alone and it rotates on its own. And for coders, two pages you build yourself. The MQTT page shows live values from Home Assistant, or anything else using MQTT. The Web Data page pulls a small JSON file from any web address.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inside. The brain is a XIAO ESP32-S3 or S3 Plus, with Wi-Fi built in. It sits in a socket, so it lifts out. Five round color displays, an inch and a quarter across, share one board; three buttons along the edge. Yang and I designed the board that ties it together, and JLCPCB makes it. It runs off a USB cable and draws under two watts. The board files and the software are all open, on GitHub.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displays run on five volts, each with its own regulator. On the original kit they all ran off the ESP's regulator, and builders found it too hot to touch: one report put the module at 82 degrees C running only a graphics demo. On ours the thermal camera reads 43.6 at the module's hottest point after hours of running, and 37.9 on the display backs. Surface readings, room at 75 F. The displays carry their own share now, and stay warm, not hot.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load the software once, over USB. After that there's no cable. Settings live on a web page you open from your phone or computer: your town, your tickers, time zone, colors. Save, and the orb restarts with them. And you pick the pages: not interested in the markets? Untick Stocks and it drops out of the rotation. Tick just one page and that page stays put. Software updates come over Wi-Fi from the same page; if one goes wrong the orb falls back to the version that worked. It dims in the evening, can switch its screens off at bedtime, and any button wakes it. And it starts up with any picture you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The board has just moved to revision 2.4, and the design is locked: a XIAO ESP32-S3 or S3 Plus, the five displays at 46 millimeters to match the enclosure, buttons on top. And a case: Yang's Winged Speedster concept, brass rings around each screen and finned end caps, all 3D printed. That one is still a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club build runs. You get the parts: the board, a XIAO ESP32-S3 or S3 Plus, five displays, sockets, buttons and a cable. Build night is sockets and headers only, through-hole soldering, one evening. Then the firmware loads once over USB; from then on updates come from your phone. Set it up on the settings page, no code. We start in January. Say tonight if you want in, so we know how many kits to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Everything's on GitHub, at the link on screen: board files, firmware and the build guide. The feature sheet lists every page and setting. Thanks to Brett Turner, to HackerBoxes, and to Donald Champion for the build photos.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for questions. The orb stays on the table running; come and press the buttons.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3" cstate="print">
            <a:extLst>
              <a:ext uri="{28A0092B-C50C-407E-A947-70E740481C1C}">
                <a14:useLocalDpi xmlns:a14="http://schemas.microsoft.com/office/drawing/2010/main" val="0"/>
              </a:ext>
            </a:extLst>
          </a:blip>
          <a:srcRect t="3326" b="3326"/>
          <a:stretch>
            <a:fillRect/>
          </a:stretch>
        </p:blipFill>
        <p:spPr bwMode="auto">
          <a:xfrm>
            <a:off x="11123435" y="162460"/>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10860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17654103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35237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37442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5331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2"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93267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72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0403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11937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06829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grpSp>
        <p:nvGrpSpPr>
          <p:cNvPr id="9" name="Group 15">
            <a:extLst>
              <a:ext uri="{FF2B5EF4-FFF2-40B4-BE49-F238E27FC236}">
                <a16:creationId xmlns:a16="http://schemas.microsoft.com/office/drawing/2014/main" id="{0E6B8CAD-0E21-4A06-9F9B-1C496EFB1CE5}"/>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A46AC958-7C92-4EE9-BC50-F97755AF33E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38BF7AD1-BC4E-4573-A10C-162C4E218F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63D9BDA3-30F4-44CE-8DB7-FEA57BFA5E6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785137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2231422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303CE283-BD41-48D6-B73E-B444C21D6E40}"/>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CDDD244-12B4-4F68-9FD1-A897C8592B4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DB2EA525-785C-4D72-ADFF-2443546666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C4E55419-A66C-46C5-B772-C10DD820443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89524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2507482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A84553E3-3161-4C69-BDF0-C752108F4DD1}"/>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F498199-0CDF-4F34-BE01-F9E7A56B110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2F6C57B1-AA33-4874-8858-71F6885860A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0FE6E0DE-85A3-4EA4-AF66-237C37EF1D3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151960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679E8465-5E23-4F14-85DB-88EE215E40F8}"/>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49E8AF0B-21C5-42AD-9647-8BAD883A7D9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E031B306-6F92-47FD-8245-1174796B66CF}"/>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45FCA7F5-39FD-4188-9573-FA2AD9E8C8A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681761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11" name="Group 15">
            <a:extLst>
              <a:ext uri="{FF2B5EF4-FFF2-40B4-BE49-F238E27FC236}">
                <a16:creationId xmlns:a16="http://schemas.microsoft.com/office/drawing/2014/main" id="{27EF8C70-A5A8-4291-A574-6FD0BEE0FC74}"/>
              </a:ext>
            </a:extLst>
          </p:cNvPr>
          <p:cNvGrpSpPr>
            <a:grpSpLocks/>
          </p:cNvGrpSpPr>
          <p:nvPr userDrawn="1"/>
        </p:nvGrpSpPr>
        <p:grpSpPr bwMode="auto">
          <a:xfrm>
            <a:off x="11282901" y="75302"/>
            <a:ext cx="817893" cy="1078865"/>
            <a:chOff x="963826" y="1033255"/>
            <a:chExt cx="3896535" cy="5036984"/>
          </a:xfrm>
        </p:grpSpPr>
        <p:pic>
          <p:nvPicPr>
            <p:cNvPr id="13" name="Picture 16">
              <a:extLst>
                <a:ext uri="{FF2B5EF4-FFF2-40B4-BE49-F238E27FC236}">
                  <a16:creationId xmlns:a16="http://schemas.microsoft.com/office/drawing/2014/main" id="{85965954-3441-49D7-8B43-7B5953FA36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Oval 13">
              <a:extLst>
                <a:ext uri="{FF2B5EF4-FFF2-40B4-BE49-F238E27FC236}">
                  <a16:creationId xmlns:a16="http://schemas.microsoft.com/office/drawing/2014/main" id="{9505A160-BE9E-4ECF-8EC7-91E58FF75FBE}"/>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5" name="Picture 22">
              <a:extLst>
                <a:ext uri="{FF2B5EF4-FFF2-40B4-BE49-F238E27FC236}">
                  <a16:creationId xmlns:a16="http://schemas.microsoft.com/office/drawing/2014/main" id="{ED3B1895-42AB-4256-8D8A-2B5D0ECB429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329558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7" name="Group 15">
            <a:extLst>
              <a:ext uri="{FF2B5EF4-FFF2-40B4-BE49-F238E27FC236}">
                <a16:creationId xmlns:a16="http://schemas.microsoft.com/office/drawing/2014/main" id="{E543D55A-9787-4323-8DB0-1C0D27A52FB7}"/>
              </a:ext>
            </a:extLst>
          </p:cNvPr>
          <p:cNvGrpSpPr>
            <a:grpSpLocks/>
          </p:cNvGrpSpPr>
          <p:nvPr userDrawn="1"/>
        </p:nvGrpSpPr>
        <p:grpSpPr bwMode="auto">
          <a:xfrm>
            <a:off x="11282901" y="75302"/>
            <a:ext cx="817893" cy="1078865"/>
            <a:chOff x="963826" y="1033255"/>
            <a:chExt cx="3896535" cy="5036984"/>
          </a:xfrm>
        </p:grpSpPr>
        <p:pic>
          <p:nvPicPr>
            <p:cNvPr id="9" name="Picture 16">
              <a:extLst>
                <a:ext uri="{FF2B5EF4-FFF2-40B4-BE49-F238E27FC236}">
                  <a16:creationId xmlns:a16="http://schemas.microsoft.com/office/drawing/2014/main" id="{7814FCD9-DE78-458C-87F3-5F750B8CD81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Oval 9">
              <a:extLst>
                <a:ext uri="{FF2B5EF4-FFF2-40B4-BE49-F238E27FC236}">
                  <a16:creationId xmlns:a16="http://schemas.microsoft.com/office/drawing/2014/main" id="{07CA8A89-9B10-4200-ACF2-210A333889E1}"/>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1" name="Picture 22">
              <a:extLst>
                <a:ext uri="{FF2B5EF4-FFF2-40B4-BE49-F238E27FC236}">
                  <a16:creationId xmlns:a16="http://schemas.microsoft.com/office/drawing/2014/main" id="{D48F92FA-3AF0-4769-AFE6-C2DF89BC3DA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7240967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672639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6" name="Group 15">
            <a:extLst>
              <a:ext uri="{FF2B5EF4-FFF2-40B4-BE49-F238E27FC236}">
                <a16:creationId xmlns:a16="http://schemas.microsoft.com/office/drawing/2014/main" id="{511AE9B6-5DBE-4611-B5C8-347988747DE1}"/>
              </a:ext>
            </a:extLst>
          </p:cNvPr>
          <p:cNvGrpSpPr>
            <a:grpSpLocks/>
          </p:cNvGrpSpPr>
          <p:nvPr userDrawn="1"/>
        </p:nvGrpSpPr>
        <p:grpSpPr bwMode="auto">
          <a:xfrm>
            <a:off x="11282901" y="75302"/>
            <a:ext cx="817893" cy="1078865"/>
            <a:chOff x="963826" y="1033255"/>
            <a:chExt cx="3896535" cy="5036984"/>
          </a:xfrm>
        </p:grpSpPr>
        <p:pic>
          <p:nvPicPr>
            <p:cNvPr id="8" name="Picture 16">
              <a:extLst>
                <a:ext uri="{FF2B5EF4-FFF2-40B4-BE49-F238E27FC236}">
                  <a16:creationId xmlns:a16="http://schemas.microsoft.com/office/drawing/2014/main" id="{F2A33721-5195-4E05-AF34-767B8E40F06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Oval 8">
              <a:extLst>
                <a:ext uri="{FF2B5EF4-FFF2-40B4-BE49-F238E27FC236}">
                  <a16:creationId xmlns:a16="http://schemas.microsoft.com/office/drawing/2014/main" id="{E75C806E-AC37-4366-86EC-F51AB91C673A}"/>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0" name="Picture 22">
              <a:extLst>
                <a:ext uri="{FF2B5EF4-FFF2-40B4-BE49-F238E27FC236}">
                  <a16:creationId xmlns:a16="http://schemas.microsoft.com/office/drawing/2014/main" id="{04EB37B9-2633-489B-BEE1-C1C414808C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2953292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8620627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4BADC890-74DF-406A-9C43-B2686796B602}"/>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BF75263E-BE6A-4FC5-9307-37006511DDE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65637E57-FE4F-4749-A583-D4A7202FB020}"/>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1EF48442-056A-4CA4-B623-A34477F95D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77864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42B4457-79FF-4660-B984-F5C3D8FDBABC}" type="slidenum">
              <a:rPr lang="en-US" smtClean="0"/>
              <a:t>‹#›</a:t>
            </a:fld>
            <a:endParaRPr lang="en-US"/>
          </a:p>
        </p:txBody>
      </p:sp>
    </p:spTree>
    <p:extLst>
      <p:ext uri="{BB962C8B-B14F-4D97-AF65-F5344CB8AC3E}">
        <p14:creationId xmlns:p14="http://schemas.microsoft.com/office/powerpoint/2010/main" val="2601172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7" name="Picture Placeholder 7"/>
          <p:cNvSpPr>
            <a:spLocks noGrp="1"/>
          </p:cNvSpPr>
          <p:nvPr>
            <p:ph type="pic" sz="quarter" idx="14" hasCustomPrompt="1"/>
          </p:nvPr>
        </p:nvSpPr>
        <p:spPr>
          <a:xfrm>
            <a:off x="11042468" y="365125"/>
            <a:ext cx="897482" cy="1078865"/>
          </a:xfrm>
        </p:spPr>
        <p:txBody>
          <a:bodyPr/>
          <a:lstStyle>
            <a:lvl1pPr marL="0" indent="0" algn="ctr">
              <a:buNone/>
              <a:defRPr sz="1100" baseline="0">
                <a:solidFill>
                  <a:schemeClr val="bg1"/>
                </a:solidFill>
              </a:defRPr>
            </a:lvl1pPr>
          </a:lstStyle>
          <a:p>
            <a:r>
              <a:rPr lang="en-US" dirty="0"/>
              <a:t>INSERT LOGO PICTURE HRE</a:t>
            </a:r>
          </a:p>
        </p:txBody>
      </p:sp>
    </p:spTree>
    <p:extLst>
      <p:ext uri="{BB962C8B-B14F-4D97-AF65-F5344CB8AC3E}">
        <p14:creationId xmlns:p14="http://schemas.microsoft.com/office/powerpoint/2010/main" val="34634325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pic>
        <p:nvPicPr>
          <p:cNvPr id="9" name="Picture 8">
            <a:extLst>
              <a:ext uri="{FF2B5EF4-FFF2-40B4-BE49-F238E27FC236}">
                <a16:creationId xmlns:a16="http://schemas.microsoft.com/office/drawing/2014/main" id="{EBADE4D8-6740-48C5-9993-AD2D32D63DF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20425" y="239915"/>
            <a:ext cx="952811" cy="1143374"/>
          </a:xfrm>
          <a:prstGeom prst="rect">
            <a:avLst/>
          </a:prstGeom>
        </p:spPr>
      </p:pic>
    </p:spTree>
    <p:extLst>
      <p:ext uri="{BB962C8B-B14F-4D97-AF65-F5344CB8AC3E}">
        <p14:creationId xmlns:p14="http://schemas.microsoft.com/office/powerpoint/2010/main" val="42861041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31832289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7">
            <a:extLst>
              <a:ext uri="{FF2B5EF4-FFF2-40B4-BE49-F238E27FC236}">
                <a16:creationId xmlns:a16="http://schemas.microsoft.com/office/drawing/2014/main" id="{FED7BBE1-BD36-4E9F-BBAA-F0D5A425860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282534485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38236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8">
            <a:extLst>
              <a:ext uri="{FF2B5EF4-FFF2-40B4-BE49-F238E27FC236}">
                <a16:creationId xmlns:a16="http://schemas.microsoft.com/office/drawing/2014/main" id="{B4F752BE-CF2F-4BE7-921F-87D036E3D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7832294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1" name="Picture 10">
            <a:extLst>
              <a:ext uri="{FF2B5EF4-FFF2-40B4-BE49-F238E27FC236}">
                <a16:creationId xmlns:a16="http://schemas.microsoft.com/office/drawing/2014/main" id="{E082F2DB-9A12-4B7A-A829-5C6BE41A69D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38192031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6">
            <a:extLst>
              <a:ext uri="{FF2B5EF4-FFF2-40B4-BE49-F238E27FC236}">
                <a16:creationId xmlns:a16="http://schemas.microsoft.com/office/drawing/2014/main" id="{EBEC9402-61FA-4538-B688-F918A2C1E87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6894327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949708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6" name="Picture 5">
            <a:extLst>
              <a:ext uri="{FF2B5EF4-FFF2-40B4-BE49-F238E27FC236}">
                <a16:creationId xmlns:a16="http://schemas.microsoft.com/office/drawing/2014/main" id="{C8199A91-D5F0-4499-B52C-45523EC48E1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9155648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4740356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pic>
        <p:nvPicPr>
          <p:cNvPr id="9" name="Picture 8">
            <a:extLst>
              <a:ext uri="{FF2B5EF4-FFF2-40B4-BE49-F238E27FC236}">
                <a16:creationId xmlns:a16="http://schemas.microsoft.com/office/drawing/2014/main" id="{5F882AB6-8023-42E3-8852-51795A38DE8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74431" y="17522"/>
            <a:ext cx="986593" cy="1183912"/>
          </a:xfrm>
          <a:prstGeom prst="rect">
            <a:avLst/>
          </a:prstGeom>
        </p:spPr>
      </p:pic>
    </p:spTree>
    <p:extLst>
      <p:ext uri="{BB962C8B-B14F-4D97-AF65-F5344CB8AC3E}">
        <p14:creationId xmlns:p14="http://schemas.microsoft.com/office/powerpoint/2010/main" val="12988069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10551164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8" name="Picture Placeholder 7"/>
          <p:cNvSpPr>
            <a:spLocks noGrp="1"/>
          </p:cNvSpPr>
          <p:nvPr>
            <p:ph type="pic" sz="quarter" idx="13" hasCustomPrompt="1"/>
          </p:nvPr>
        </p:nvSpPr>
        <p:spPr>
          <a:xfrm>
            <a:off x="11016343" y="365125"/>
            <a:ext cx="897482" cy="1078865"/>
          </a:xfrm>
        </p:spPr>
        <p:txBody>
          <a:bodyPr/>
          <a:lstStyle>
            <a:lvl1pPr marL="0" indent="0" algn="ctr">
              <a:buNone/>
              <a:defRPr sz="1100" baseline="0">
                <a:solidFill>
                  <a:schemeClr val="bg1"/>
                </a:solidFill>
              </a:defRPr>
            </a:lvl1pPr>
          </a:lstStyle>
          <a:p>
            <a:r>
              <a:rPr lang="en-US" dirty="0"/>
              <a:t>INSERT LOGO PICTURE HERE</a:t>
            </a:r>
          </a:p>
        </p:txBody>
      </p:sp>
    </p:spTree>
    <p:extLst>
      <p:ext uri="{BB962C8B-B14F-4D97-AF65-F5344CB8AC3E}">
        <p14:creationId xmlns:p14="http://schemas.microsoft.com/office/powerpoint/2010/main" val="37075998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1608" y="0"/>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37434587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pPr>
                <a:defRPr/>
              </a:pPr>
              <a:t>11/4/2022</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pPr>
                <a:defRPr/>
              </a:pPr>
              <a:t>‹#›</a:t>
            </a:fld>
            <a:endParaRPr lang="en-US" dirty="0"/>
          </a:p>
        </p:txBody>
      </p:sp>
      <p:sp>
        <p:nvSpPr>
          <p:cNvPr id="6" name="Picture Placeholder 7"/>
          <p:cNvSpPr>
            <a:spLocks noGrp="1"/>
          </p:cNvSpPr>
          <p:nvPr>
            <p:ph type="pic" sz="quarter" idx="14" hasCustomPrompt="1"/>
          </p:nvPr>
        </p:nvSpPr>
        <p:spPr>
          <a:xfrm>
            <a:off x="11016343" y="244838"/>
            <a:ext cx="897482" cy="1078865"/>
          </a:xfrm>
        </p:spPr>
        <p:txBody>
          <a:bodyPr/>
          <a:lstStyle>
            <a:lvl1pPr marL="0" indent="0" algn="ctr">
              <a:buNone/>
              <a:defRPr sz="1100">
                <a:solidFill>
                  <a:schemeClr val="bg1"/>
                </a:solidFill>
              </a:defRPr>
            </a:lvl1pPr>
          </a:lstStyle>
          <a:p>
            <a:r>
              <a:rPr lang="en-US" dirty="0"/>
              <a:t>INSERT LOGO PICTURE HERE</a:t>
            </a:r>
          </a:p>
        </p:txBody>
      </p:sp>
    </p:spTree>
    <p:extLst>
      <p:ext uri="{BB962C8B-B14F-4D97-AF65-F5344CB8AC3E}">
        <p14:creationId xmlns:p14="http://schemas.microsoft.com/office/powerpoint/2010/main" val="2062828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vl1pPr>
          </a:lstStyle>
          <a:p>
            <a:pPr>
              <a:defRPr/>
            </a:pPr>
            <a:fld id="{ED4CD93F-AC61-4144-80DC-AF009BDAC99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42152008-3B50-4CE9-9473-3C45BB39F89A}" type="slidenum">
              <a:rPr lang="en-US">
                <a:solidFill>
                  <a:srgbClr val="5B9BD5">
                    <a:lumMod val="50000"/>
                  </a:srgbClr>
                </a:solidFill>
              </a:rPr>
              <a:pPr>
                <a:defRPr/>
              </a:pPr>
              <a:t>‹#›</a:t>
            </a:fld>
            <a:endParaRPr lang="en-US" dirty="0">
              <a:solidFill>
                <a:srgbClr val="5B9BD5">
                  <a:lumMod val="50000"/>
                </a:srgbClr>
              </a:solidFill>
            </a:endParaRPr>
          </a:p>
        </p:txBody>
      </p:sp>
      <p:grpSp>
        <p:nvGrpSpPr>
          <p:cNvPr id="24" name="Group 25">
            <a:extLst>
              <a:ext uri="{FF2B5EF4-FFF2-40B4-BE49-F238E27FC236}">
                <a16:creationId xmlns:a16="http://schemas.microsoft.com/office/drawing/2014/main" id="{25B74248-887E-422A-9B0D-2189E59EFE99}"/>
              </a:ext>
            </a:extLst>
          </p:cNvPr>
          <p:cNvGrpSpPr>
            <a:grpSpLocks/>
          </p:cNvGrpSpPr>
          <p:nvPr userDrawn="1"/>
        </p:nvGrpSpPr>
        <p:grpSpPr bwMode="auto">
          <a:xfrm>
            <a:off x="11330544" y="99219"/>
            <a:ext cx="770286" cy="1023144"/>
            <a:chOff x="6194854" y="512890"/>
            <a:chExt cx="4135433" cy="5345804"/>
          </a:xfrm>
        </p:grpSpPr>
        <p:grpSp>
          <p:nvGrpSpPr>
            <p:cNvPr id="25" name="Group 24">
              <a:extLst>
                <a:ext uri="{FF2B5EF4-FFF2-40B4-BE49-F238E27FC236}">
                  <a16:creationId xmlns:a16="http://schemas.microsoft.com/office/drawing/2014/main" id="{4D6B0182-B193-47EA-8932-A1DE70158AC5}"/>
                </a:ext>
              </a:extLst>
            </p:cNvPr>
            <p:cNvGrpSpPr>
              <a:grpSpLocks/>
            </p:cNvGrpSpPr>
            <p:nvPr/>
          </p:nvGrpSpPr>
          <p:grpSpPr bwMode="auto">
            <a:xfrm>
              <a:off x="6194854" y="512890"/>
              <a:ext cx="4135433" cy="5345804"/>
              <a:chOff x="6194854" y="512890"/>
              <a:chExt cx="4135433" cy="5345804"/>
            </a:xfrm>
          </p:grpSpPr>
          <p:pic>
            <p:nvPicPr>
              <p:cNvPr id="27" name="Picture 23">
                <a:extLst>
                  <a:ext uri="{FF2B5EF4-FFF2-40B4-BE49-F238E27FC236}">
                    <a16:creationId xmlns:a16="http://schemas.microsoft.com/office/drawing/2014/main" id="{110AB48C-DDFE-48D1-8DCB-AA60213CE49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8" name="Group 27">
                <a:extLst>
                  <a:ext uri="{FF2B5EF4-FFF2-40B4-BE49-F238E27FC236}">
                    <a16:creationId xmlns:a16="http://schemas.microsoft.com/office/drawing/2014/main" id="{81FC65CB-AAE0-4C95-9D96-3E6D7BB307CA}"/>
                  </a:ext>
                </a:extLst>
              </p:cNvPr>
              <p:cNvGrpSpPr/>
              <p:nvPr/>
            </p:nvGrpSpPr>
            <p:grpSpPr>
              <a:xfrm>
                <a:off x="7292868" y="2311930"/>
                <a:ext cx="2607012" cy="2607012"/>
                <a:chOff x="6633842" y="2500011"/>
                <a:chExt cx="2607012" cy="2607012"/>
              </a:xfrm>
              <a:solidFill>
                <a:schemeClr val="bg1"/>
              </a:solidFill>
            </p:grpSpPr>
            <p:sp>
              <p:nvSpPr>
                <p:cNvPr id="29" name="Oval 28">
                  <a:extLst>
                    <a:ext uri="{FF2B5EF4-FFF2-40B4-BE49-F238E27FC236}">
                      <a16:creationId xmlns:a16="http://schemas.microsoft.com/office/drawing/2014/main" id="{77DA03E8-4FD1-4085-8BC4-28C97925125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Rectangle 29">
                  <a:extLst>
                    <a:ext uri="{FF2B5EF4-FFF2-40B4-BE49-F238E27FC236}">
                      <a16:creationId xmlns:a16="http://schemas.microsoft.com/office/drawing/2014/main" id="{9E77564B-AD84-4B12-B8A6-1A89060E488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26" name="Picture 7">
              <a:extLst>
                <a:ext uri="{FF2B5EF4-FFF2-40B4-BE49-F238E27FC236}">
                  <a16:creationId xmlns:a16="http://schemas.microsoft.com/office/drawing/2014/main" id="{70C73D2D-5BC8-4AFD-9EFE-C97A1A6C25C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86455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9958280-BFA4-4825-A934-A467501A75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F1AE033A-B19D-49CF-A90B-092B820E8F1C}"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F2076B4A-B2A2-46F8-BBDB-EFFAD9186AE6}"/>
              </a:ext>
            </a:extLst>
          </p:cNvPr>
          <p:cNvGrpSpPr>
            <a:grpSpLocks/>
          </p:cNvGrpSpPr>
          <p:nvPr userDrawn="1"/>
        </p:nvGrpSpPr>
        <p:grpSpPr bwMode="auto">
          <a:xfrm>
            <a:off x="11340091" y="78032"/>
            <a:ext cx="770286" cy="1023144"/>
            <a:chOff x="6194854" y="512890"/>
            <a:chExt cx="4135433" cy="5345804"/>
          </a:xfrm>
        </p:grpSpPr>
        <p:grpSp>
          <p:nvGrpSpPr>
            <p:cNvPr id="10" name="Group 24">
              <a:extLst>
                <a:ext uri="{FF2B5EF4-FFF2-40B4-BE49-F238E27FC236}">
                  <a16:creationId xmlns:a16="http://schemas.microsoft.com/office/drawing/2014/main" id="{0BA3C0DF-2D0C-4BA9-8693-FA49971326B7}"/>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3C0FDE8-AB94-4790-854B-A01EB9CC4F6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C1C270D2-2928-4A68-8A5A-E5919479DBE7}"/>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FF2B2184-9778-43BB-B9E9-E0116149E788}"/>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2C5926DD-96A2-4CEA-A2BD-0DE543DB9668}"/>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657D7743-5BCE-47CA-AFF5-6F0009B4CD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4015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accent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vl1pPr>
          </a:lstStyle>
          <a:p>
            <a:pPr>
              <a:defRPr/>
            </a:pPr>
            <a:fld id="{875FF590-B112-4B44-A406-18CE38CD20E7}"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35666FFC-2563-4B81-8267-1373BA97B635}" type="slidenum">
              <a:rPr lang="en-US">
                <a:solidFill>
                  <a:srgbClr val="5B9BD5">
                    <a:lumMod val="50000"/>
                  </a:srgbClr>
                </a:solidFill>
              </a:rPr>
              <a:pPr>
                <a:defRPr/>
              </a:pPr>
              <a:t>‹#›</a:t>
            </a:fld>
            <a:endParaRPr lang="en-US" dirty="0">
              <a:solidFill>
                <a:srgbClr val="5B9BD5">
                  <a:lumMod val="50000"/>
                </a:srgbClr>
              </a:solidFill>
            </a:endParaRPr>
          </a:p>
        </p:txBody>
      </p:sp>
      <p:grpSp>
        <p:nvGrpSpPr>
          <p:cNvPr id="16" name="Group 25">
            <a:extLst>
              <a:ext uri="{FF2B5EF4-FFF2-40B4-BE49-F238E27FC236}">
                <a16:creationId xmlns:a16="http://schemas.microsoft.com/office/drawing/2014/main" id="{9E0B9AA6-416C-4A44-A440-F85FFF27B8D6}"/>
              </a:ext>
            </a:extLst>
          </p:cNvPr>
          <p:cNvGrpSpPr>
            <a:grpSpLocks/>
          </p:cNvGrpSpPr>
          <p:nvPr userDrawn="1"/>
        </p:nvGrpSpPr>
        <p:grpSpPr bwMode="auto">
          <a:xfrm>
            <a:off x="11347450" y="98425"/>
            <a:ext cx="770286" cy="1023144"/>
            <a:chOff x="6194854" y="512890"/>
            <a:chExt cx="4135433" cy="5345804"/>
          </a:xfrm>
        </p:grpSpPr>
        <p:grpSp>
          <p:nvGrpSpPr>
            <p:cNvPr id="17" name="Group 24">
              <a:extLst>
                <a:ext uri="{FF2B5EF4-FFF2-40B4-BE49-F238E27FC236}">
                  <a16:creationId xmlns:a16="http://schemas.microsoft.com/office/drawing/2014/main" id="{7A9E0C06-7B9D-487C-B7EF-DE974FABF429}"/>
                </a:ext>
              </a:extLst>
            </p:cNvPr>
            <p:cNvGrpSpPr>
              <a:grpSpLocks/>
            </p:cNvGrpSpPr>
            <p:nvPr/>
          </p:nvGrpSpPr>
          <p:grpSpPr bwMode="auto">
            <a:xfrm>
              <a:off x="6194854" y="512890"/>
              <a:ext cx="4135433" cy="5345804"/>
              <a:chOff x="6194854" y="512890"/>
              <a:chExt cx="4135433" cy="5345804"/>
            </a:xfrm>
          </p:grpSpPr>
          <p:pic>
            <p:nvPicPr>
              <p:cNvPr id="19" name="Picture 23">
                <a:extLst>
                  <a:ext uri="{FF2B5EF4-FFF2-40B4-BE49-F238E27FC236}">
                    <a16:creationId xmlns:a16="http://schemas.microsoft.com/office/drawing/2014/main" id="{5E74CFC3-5B91-44C1-9EAC-6AAEFC4B7198}"/>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0" name="Group 19">
                <a:extLst>
                  <a:ext uri="{FF2B5EF4-FFF2-40B4-BE49-F238E27FC236}">
                    <a16:creationId xmlns:a16="http://schemas.microsoft.com/office/drawing/2014/main" id="{F272C3B2-26A9-4113-B440-A8E67382D6C5}"/>
                  </a:ext>
                </a:extLst>
              </p:cNvPr>
              <p:cNvGrpSpPr/>
              <p:nvPr/>
            </p:nvGrpSpPr>
            <p:grpSpPr>
              <a:xfrm>
                <a:off x="7292868" y="2311930"/>
                <a:ext cx="2607012" cy="2607012"/>
                <a:chOff x="6633842" y="2500011"/>
                <a:chExt cx="2607012" cy="2607012"/>
              </a:xfrm>
              <a:solidFill>
                <a:schemeClr val="bg1"/>
              </a:solidFill>
            </p:grpSpPr>
            <p:sp>
              <p:nvSpPr>
                <p:cNvPr id="21" name="Oval 20">
                  <a:extLst>
                    <a:ext uri="{FF2B5EF4-FFF2-40B4-BE49-F238E27FC236}">
                      <a16:creationId xmlns:a16="http://schemas.microsoft.com/office/drawing/2014/main" id="{7D7276F7-6022-4080-ACB9-788C4E43548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 name="Rectangle 21">
                  <a:extLst>
                    <a:ext uri="{FF2B5EF4-FFF2-40B4-BE49-F238E27FC236}">
                      <a16:creationId xmlns:a16="http://schemas.microsoft.com/office/drawing/2014/main" id="{D63D5E52-8473-4918-85D9-0B4DD6D79F2F}"/>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8" name="Picture 7">
              <a:extLst>
                <a:ext uri="{FF2B5EF4-FFF2-40B4-BE49-F238E27FC236}">
                  <a16:creationId xmlns:a16="http://schemas.microsoft.com/office/drawing/2014/main" id="{E5C807C4-752B-46B5-8871-EA224EDAC3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4040717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EFC97DEB-BC56-4560-A458-AE06CC223046}"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0A6FE2CF-9601-4B85-9BF8-BA16520FD075}"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1307DEE6-CEDE-4492-8B2A-59C4B65CAF75}"/>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57E021E-86DC-4A31-B3B4-36A000F8CD7D}"/>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0E81BA48-AC78-4C93-826A-72FC8694483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A772DCF3-9295-49C6-9BCF-3AE28B484F01}"/>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C60817F-7BED-48A1-AF7B-6A136879801F}"/>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7AF5F8-B145-4C9A-B9C8-9E5386DFFCF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DE5FE58E-5F73-4F63-A358-1A63812B44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222531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98178"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4C470213-55FA-4B70-BF14-17F5A45B85E0}"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4FD82458-11EF-483B-A907-F4BFC70E2997}" type="slidenum">
              <a:rPr lang="en-US">
                <a:solidFill>
                  <a:srgbClr val="5B9BD5">
                    <a:lumMod val="50000"/>
                  </a:srgbClr>
                </a:solidFill>
              </a:rPr>
              <a:pPr>
                <a:defRPr/>
              </a:pPr>
              <a:t>‹#›</a:t>
            </a:fld>
            <a:endParaRPr lang="en-US" dirty="0">
              <a:solidFill>
                <a:srgbClr val="5B9BD5">
                  <a:lumMod val="50000"/>
                </a:srgbClr>
              </a:solidFill>
            </a:endParaRPr>
          </a:p>
        </p:txBody>
      </p:sp>
      <p:grpSp>
        <p:nvGrpSpPr>
          <p:cNvPr id="12" name="Group 25">
            <a:extLst>
              <a:ext uri="{FF2B5EF4-FFF2-40B4-BE49-F238E27FC236}">
                <a16:creationId xmlns:a16="http://schemas.microsoft.com/office/drawing/2014/main" id="{66CC0EEA-2B83-41E5-A8A6-AEB5D9FF99B1}"/>
              </a:ext>
            </a:extLst>
          </p:cNvPr>
          <p:cNvGrpSpPr>
            <a:grpSpLocks/>
          </p:cNvGrpSpPr>
          <p:nvPr userDrawn="1"/>
        </p:nvGrpSpPr>
        <p:grpSpPr bwMode="auto">
          <a:xfrm>
            <a:off x="11347450" y="98425"/>
            <a:ext cx="770286" cy="1023144"/>
            <a:chOff x="6194854" y="512890"/>
            <a:chExt cx="4135433" cy="5345804"/>
          </a:xfrm>
        </p:grpSpPr>
        <p:grpSp>
          <p:nvGrpSpPr>
            <p:cNvPr id="13" name="Group 24">
              <a:extLst>
                <a:ext uri="{FF2B5EF4-FFF2-40B4-BE49-F238E27FC236}">
                  <a16:creationId xmlns:a16="http://schemas.microsoft.com/office/drawing/2014/main" id="{D969EE8E-7A4B-4897-978B-AD28564180FA}"/>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E7C93420-4012-43E6-BECB-06259D98A417}"/>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B697F4B7-2A6A-4B31-BB4D-91088BFEF42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7809018A-2194-4FBF-B363-C9FB099B9AF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2C86AF40-AD11-4071-AB49-8ABFDE0C831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E3FB2A76-317D-456B-A6C8-ABCFFCBE54E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2469914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91057" cy="1325563"/>
          </a:xfrm>
        </p:spPr>
        <p:txBody>
          <a:body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32FC1D44-3933-4411-AE8F-10CA3AAE286A}"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99170C43-9C84-439E-9193-E6FD0B41C3A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031C3B5F-C17B-4B4E-A7D0-61002137856F}"/>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BB5F411B-549D-4289-A456-CB988E39A007}"/>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35C26F4B-B90A-4A37-BCCD-845ADFCDC0E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E465A14-2043-4CEB-B4C0-8B9570CBE6E4}"/>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5DD16264-3A2D-4E5E-88F1-13442F6442F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A06975BE-5D7D-443B-BA10-C9876B7050D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DB4AD4AA-14CB-437B-A18C-7495A021CD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17053901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5411580-C56A-4145-A98D-10F5743ECAEB}"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4967239E-57F7-475F-B1E0-A9D4DA3DE17D}"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65E49F1-620F-456E-81F5-F51CC267FB0E}"/>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DDBE8300-B05A-4561-9D27-61B950D7038A}"/>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D8A638FB-1AB2-409E-93ED-D98D17E12234}"/>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C445FBAE-771C-49C3-A5DD-6EE9B2AA1814}"/>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636DE227-00B4-4801-9F5A-DE0EC2900AD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6B29333A-BEC3-46E7-9D1D-E2B263DB2B8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A29B33F5-BEC0-43CA-AE09-3DF630B4C4A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562729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5998618"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E18F7846-F355-42A1-8323-D55BC92ED13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117B6774-C026-454D-B27B-D79A9FC9A5F0}"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9A818454-5666-4FEF-BC44-3455D687D300}"/>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1F0EE55-74E7-4AAC-AF14-B2D870FE3C7E}"/>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9C5C5955-5F9B-4BF0-ACBB-AD80644CF9BE}"/>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CE18C7D-214F-4A5F-9CC5-863D4DB47D7A}"/>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1FB60EE-24EB-49AE-B982-BCB0E79B1FF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136BCC-F008-47CF-855B-A648E35F29C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B2DD64E8-3AFB-4AAF-8BB8-FAA86164D96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693267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5955075"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29B837B3-F125-4DCA-97D8-61957B20298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7B5F6338-099A-416F-AE40-F8B30969799F}"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E9217058-BA77-45BB-A790-91CC5F8B3422}"/>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BAF1D78-D41C-4284-BA4A-04A63E59B27A}"/>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F07DE268-A519-453A-8798-3794C5D40BD2}"/>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F1D19800-A26A-4EAE-9A19-6AB9BA855B1D}"/>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B49D5F62-4913-4F1D-ABF1-34D69647E57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C4F509AB-3381-43EA-8B82-39ADD760C59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EA6F1DC4-17B0-4EBB-83B3-A960DAC705C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0362385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4D98E97-9112-4FA2-A674-B8332FA65A7C}"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52689E45-4DF6-4C5C-A337-7CC433C885E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6700D78F-1116-4759-99CE-DFB7018923DA}"/>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46B4F76D-2169-4123-A557-CFF029C9F705}"/>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CAA7E9C3-3C9F-4D0D-9D9D-A2DFBADC058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6F35438F-B3BD-4907-BCA9-C280CBCA47BA}"/>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E15BE8C5-EF9C-4BFA-BDB5-4DE9AC8CA9C7}"/>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D0E322FB-3C12-4215-8E34-6315EF1E386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E418C5C4-0633-4D99-8929-3C168C35ED9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32160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E20670B2-13A7-40D4-9331-05687D2D82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7B6584D3-BFDB-4BA3-A298-18DBD515F053}"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A671AD07-22F4-40A3-9805-8C1C1248FDBD}"/>
              </a:ext>
            </a:extLst>
          </p:cNvPr>
          <p:cNvGrpSpPr>
            <a:grpSpLocks/>
          </p:cNvGrpSpPr>
          <p:nvPr userDrawn="1"/>
        </p:nvGrpSpPr>
        <p:grpSpPr bwMode="auto">
          <a:xfrm>
            <a:off x="11347450" y="98425"/>
            <a:ext cx="770286" cy="1023144"/>
            <a:chOff x="6194854" y="512890"/>
            <a:chExt cx="4135433" cy="5345804"/>
          </a:xfrm>
        </p:grpSpPr>
        <p:grpSp>
          <p:nvGrpSpPr>
            <p:cNvPr id="10" name="Group 24">
              <a:extLst>
                <a:ext uri="{FF2B5EF4-FFF2-40B4-BE49-F238E27FC236}">
                  <a16:creationId xmlns:a16="http://schemas.microsoft.com/office/drawing/2014/main" id="{6326B2D3-2D56-4AF5-842B-D90A26531763}"/>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D43F607-0846-4A84-BAFF-7E11D7FBFE5D}"/>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B22FA4C8-06A8-4B73-959A-0D335E4D9E2E}"/>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CB177CB5-CB0D-4D1E-B61E-3E573D5472E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C41FA817-6433-4235-90A2-FDEECD8C7BA6}"/>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7375621F-9C89-4712-82EA-9C8C4B4246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39485202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536813E-1A03-4315-8336-AA973FD7C7FD}"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BA93366D-EEA0-4222-A71B-E25AF12F4ED9}"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C1B22299-ED59-4745-BC20-F1929C35916A}"/>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873CF2C-85EA-44BF-8819-A4B5E326E967}"/>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F997D71-6846-46A2-9AA5-20393924E5F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20A012DE-C6F5-4F22-8B13-9E0C52826EA6}"/>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6156DC7D-F6DB-41C9-8436-A9E49C7342A3}"/>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75D499F6-72B5-4C0A-9927-6DC57C6C286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3D779EF9-2EF2-42F6-90E0-0368DB81F18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5285309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A4DC4B24-E1AF-4325-BF5C-84690BD58A5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802D9C43-7C77-4C28-B664-C1F6D0C5BEC0}" type="slidenum">
              <a:rPr lang="en-US">
                <a:solidFill>
                  <a:srgbClr val="5B9BD5">
                    <a:lumMod val="50000"/>
                  </a:srgbClr>
                </a:solidFill>
              </a:rPr>
              <a:pPr>
                <a:defRPr/>
              </a:pPr>
              <a:t>‹#›</a:t>
            </a:fld>
            <a:endParaRPr lang="en-US" dirty="0">
              <a:solidFill>
                <a:srgbClr val="5B9BD5">
                  <a:lumMod val="50000"/>
                </a:srgbClr>
              </a:solidFill>
            </a:endParaRPr>
          </a:p>
        </p:txBody>
      </p:sp>
      <p:grpSp>
        <p:nvGrpSpPr>
          <p:cNvPr id="11" name="Group 25">
            <a:extLst>
              <a:ext uri="{FF2B5EF4-FFF2-40B4-BE49-F238E27FC236}">
                <a16:creationId xmlns:a16="http://schemas.microsoft.com/office/drawing/2014/main" id="{D61EEE52-5217-48D0-ABB4-76DF1722CD43}"/>
              </a:ext>
            </a:extLst>
          </p:cNvPr>
          <p:cNvGrpSpPr>
            <a:grpSpLocks/>
          </p:cNvGrpSpPr>
          <p:nvPr userDrawn="1"/>
        </p:nvGrpSpPr>
        <p:grpSpPr bwMode="auto">
          <a:xfrm>
            <a:off x="11347450" y="98425"/>
            <a:ext cx="770286" cy="1023144"/>
            <a:chOff x="6194854" y="512890"/>
            <a:chExt cx="4135433" cy="5345804"/>
          </a:xfrm>
        </p:grpSpPr>
        <p:grpSp>
          <p:nvGrpSpPr>
            <p:cNvPr id="12" name="Group 24">
              <a:extLst>
                <a:ext uri="{FF2B5EF4-FFF2-40B4-BE49-F238E27FC236}">
                  <a16:creationId xmlns:a16="http://schemas.microsoft.com/office/drawing/2014/main" id="{93B4275D-88A5-48F1-8442-6F1F39D425C3}"/>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1F35F3D9-C521-48ED-9E59-A90842A7A39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2DD9553F-851F-40A8-AFC9-7F61B56B460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BCBB432F-C667-4D2F-ADDF-E169CB218EE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1500974C-F70F-4D86-A627-213ACA07C925}"/>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6C4BC4EF-7DB6-4294-9ABA-1FC48A0D7B5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02409517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182714AA-18D9-4779-9388-CBD8CA5EB48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8F7B5FF8-1720-428E-A503-3F8750FE7EAA}"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2CF4470-A6E2-4E8F-9909-B69EF689D730}"/>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AB5FFDBC-5006-4396-946B-50CF5ED8739F}"/>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0AC807D9-C925-4E7B-AE67-C56500791E5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61DB37F-B1DB-4B6A-94EB-B8F9BB2448CB}"/>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1FF6BE0D-7C54-45F7-B0AC-321C1FC3D1E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54E4568C-5EAF-4778-BEBC-EE174787B7C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24EF2E6F-5EAE-446D-9B5A-002733402B2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74842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solidFill>
                  <a:srgbClr val="5B9BD5">
                    <a:lumMod val="50000"/>
                  </a:srgbClr>
                </a:solidFill>
              </a:rPr>
              <a:pPr>
                <a:defRPr/>
              </a:pPr>
              <a:t>‹#›</a:t>
            </a:fld>
            <a:endParaRPr lang="en-US" dirty="0">
              <a:solidFill>
                <a:srgbClr val="5B9BD5">
                  <a:lumMod val="50000"/>
                </a:srgbClr>
              </a:solidFill>
            </a:endParaRPr>
          </a:p>
        </p:txBody>
      </p:sp>
      <p:grpSp>
        <p:nvGrpSpPr>
          <p:cNvPr id="6" name="Group 25">
            <a:extLst>
              <a:ext uri="{FF2B5EF4-FFF2-40B4-BE49-F238E27FC236}">
                <a16:creationId xmlns:a16="http://schemas.microsoft.com/office/drawing/2014/main" id="{A267B214-0023-41B1-B0EF-6B669A53E1F8}"/>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F0A524EE-F7E3-47FC-8E42-7D8792AAC039}"/>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76F28761-4683-4AC9-8DC5-4DDC834637A5}"/>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4873E131-D3A6-4216-A473-BAAEB9C572F3}"/>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90FAB683-2EA6-41F6-8A79-1D1C7367638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A0DC1E27-D2F1-47FC-8101-3D5E3A610CB7}"/>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9216CC82-8C8A-484E-BF90-2EDEBA9E6D6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365624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4241D45-A8C7-4A05-BAAA-DF9F0A97EA72}"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D4AD5A9A-7B0F-478E-B704-15341D8B6146}"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66CED72B-93B5-48B1-A68B-C21593C3F031}"/>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3AE645DD-F13B-40CC-97CB-AA798D32A8B2}"/>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447106D4-BD4F-468A-9C2B-73EE905A0F5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182A9BFF-9040-4A43-891E-92CB6D7CC7DE}"/>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797A85A2-AF97-4565-BBF5-BE8C8B17FA9B}"/>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901EC94E-FBBE-48CB-92BB-E5C87283EE2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12C84077-D1E8-44C3-8A84-E4E755A43FC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2793628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2"/>
          <p:cNvSpPr>
            <a:spLocks noGrp="1"/>
          </p:cNvSpPr>
          <p:nvPr>
            <p:ph type="pic" idx="13"/>
          </p:nvPr>
        </p:nvSpPr>
        <p:spPr>
          <a:xfrm>
            <a:off x="5181600" y="995363"/>
            <a:ext cx="6026331" cy="4873625"/>
          </a:xfrm>
        </p:spPr>
        <p:txBody>
          <a:bodyPr rtlCol="0">
            <a:normAutofit/>
          </a:bodyPr>
          <a:lstStyle>
            <a:lvl1pPr marL="0" indent="0">
              <a:buNone/>
              <a:defRPr sz="320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p>
        </p:txBody>
      </p:sp>
      <p:sp>
        <p:nvSpPr>
          <p:cNvPr id="5" name="Date Placeholder 3"/>
          <p:cNvSpPr>
            <a:spLocks noGrp="1"/>
          </p:cNvSpPr>
          <p:nvPr>
            <p:ph type="dt" sz="half" idx="14"/>
          </p:nvPr>
        </p:nvSpPr>
        <p:spPr/>
        <p:txBody>
          <a:bodyPr/>
          <a:lstStyle>
            <a:lvl1pPr>
              <a:defRPr/>
            </a:lvl1pPr>
          </a:lstStyle>
          <a:p>
            <a:pPr>
              <a:defRPr/>
            </a:pPr>
            <a:fld id="{A2D26E81-827F-476C-A8E3-741BAC65FD5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5"/>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6"/>
          </p:nvPr>
        </p:nvSpPr>
        <p:spPr/>
        <p:txBody>
          <a:bodyPr/>
          <a:lstStyle>
            <a:lvl1pPr>
              <a:defRPr/>
            </a:lvl1pPr>
          </a:lstStyle>
          <a:p>
            <a:pPr>
              <a:defRPr/>
            </a:pPr>
            <a:fld id="{D0A2E8D3-17C7-438E-AB82-AF0A2AD838BE}"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EE69ACAB-3D9D-4860-A9D4-B58D053EF31D}"/>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62F23228-F3B2-44E5-9F4F-7270E4BB1324}"/>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628F461-C60B-4292-8765-4E1A8B421489}"/>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9FF3004-E3B7-406B-BE90-5265D0F248B5}"/>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2B9D780C-8D68-4E96-93E8-52A71586E44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D204D517-FEE2-4E73-AA04-FD06616E6E2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A3756BC5-A4E2-44BB-A4C5-353745C5162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68213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jpeg"/><Relationship Id="rId1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 Id="rId16" Type="http://schemas.openxmlformats.org/officeDocument/2006/relationships/image" Target="../media/image1.jpeg"/><Relationship Id="rId17"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theme" Target="../theme/theme3.xml"/><Relationship Id="rId17" Type="http://schemas.openxmlformats.org/officeDocument/2006/relationships/image" Target="../media/image1.jpeg"/><Relationship Id="rId18"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theme" Target="../theme/theme4.xml"/><Relationship Id="rId19"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2"/>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3">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030493194"/>
      </p:ext>
    </p:extLst>
  </p:cSld>
  <p:clrMap bg1="lt1" tx1="dk1" bg2="lt2" tx2="dk2" accent1="accent1" accent2="accent2" accent3="accent3" accent4="accent4" accent5="accent5" accent6="accent6" hlink="hlink" folHlink="folHlink"/>
  <p:sldLayoutIdLst>
    <p:sldLayoutId id="2147483661" r:id="rId1"/>
    <p:sldLayoutId id="2147483683" r:id="rId2"/>
    <p:sldLayoutId id="2147483662" r:id="rId3"/>
    <p:sldLayoutId id="2147483663" r:id="rId4"/>
    <p:sldLayoutId id="2147483664" r:id="rId5"/>
    <p:sldLayoutId id="2147483665" r:id="rId6"/>
    <p:sldLayoutId id="2147483668" r:id="rId7"/>
    <p:sldLayoutId id="2147483666" r:id="rId8"/>
    <p:sldLayoutId id="2147483667" r:id="rId9"/>
    <p:sldLayoutId id="2147483681" r:id="rId10"/>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7">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3737406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20" r:id="rId14"/>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8">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84746156"/>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32" r:id="rId4"/>
    <p:sldLayoutId id="2147483726" r:id="rId5"/>
    <p:sldLayoutId id="2147483727" r:id="rId6"/>
    <p:sldLayoutId id="2147483728" r:id="rId7"/>
    <p:sldLayoutId id="2147483729" r:id="rId8"/>
    <p:sldLayoutId id="2147483730" r:id="rId9"/>
    <p:sldLayoutId id="2147483731" r:id="rId10"/>
    <p:sldLayoutId id="2147483734" r:id="rId11"/>
    <p:sldLayoutId id="2147483735" r:id="rId12"/>
    <p:sldLayoutId id="2147483739" r:id="rId13"/>
    <p:sldLayoutId id="2147483740" r:id="rId14"/>
    <p:sldLayoutId id="2147483741" r:id="rId15"/>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9"/>
          <a:srcRect/>
          <a:stretch>
            <a:fillRect/>
          </a:stretch>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 style</a:t>
            </a:r>
          </a:p>
        </p:txBody>
      </p:sp>
      <p:sp>
        <p:nvSpPr>
          <p:cNvPr id="2051"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549A8918-CB8D-492A-B25B-56D4BD9C1669}" type="datetimeFigureOut">
              <a:rPr lang="en-US" smtClean="0"/>
              <a:pPr>
                <a:defRPr/>
              </a:pPr>
              <a:t>11/4/2022</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0AFC60A8-5F5C-4AA9-9BB4-437BC69618B7}" type="slidenum">
              <a:rPr lang="en-US" smtClean="0"/>
              <a:pPr>
                <a:defRPr/>
              </a:pPr>
              <a:t>‹#›</a:t>
            </a:fld>
            <a:endParaRPr lang="en-US" dirty="0"/>
          </a:p>
        </p:txBody>
      </p:sp>
    </p:spTree>
    <p:extLst>
      <p:ext uri="{BB962C8B-B14F-4D97-AF65-F5344CB8AC3E}">
        <p14:creationId xmlns:p14="http://schemas.microsoft.com/office/powerpoint/2010/main" val="4238675672"/>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Lst>
  <p:txStyles>
    <p:titleStyle>
      <a:lvl1pPr algn="l" rtl="0" eaLnBrk="0" fontAlgn="base" hangingPunct="0">
        <a:lnSpc>
          <a:spcPct val="90000"/>
        </a:lnSpc>
        <a:spcBef>
          <a:spcPct val="0"/>
        </a:spcBef>
        <a:spcAft>
          <a:spcPct val="0"/>
        </a:spcAft>
        <a:defRPr sz="4400" kern="1200">
          <a:solidFill>
            <a:schemeClr val="accent5">
              <a:lumMod val="75000"/>
            </a:schemeClr>
          </a:solidFill>
          <a:latin typeface="Arial" panose="020B0604020202020204" pitchFamily="34" charset="0"/>
          <a:ea typeface="+mj-ea"/>
          <a:cs typeface="Arial" panose="020B0604020202020204" pitchFamily="34" charset="0"/>
        </a:defRPr>
      </a:lvl1pPr>
      <a:lvl2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2pPr>
      <a:lvl3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3pPr>
      <a:lvl4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4pPr>
      <a:lvl5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accent5">
              <a:lumMod val="75000"/>
            </a:schemeClr>
          </a:solidFill>
          <a:latin typeface="Arial" panose="020B0604020202020204" pitchFamily="34" charset="0"/>
          <a:ea typeface="+mn-ea"/>
          <a:cs typeface="Arial" panose="020B060402020202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accent5">
              <a:lumMod val="75000"/>
            </a:schemeClr>
          </a:solidFill>
          <a:latin typeface="Arial" panose="020B0604020202020204" pitchFamily="34" charset="0"/>
          <a:ea typeface="+mn-ea"/>
          <a:cs typeface="Arial" panose="020B060402020202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accent5">
              <a:lumMod val="75000"/>
            </a:schemeClr>
          </a:solidFill>
          <a:latin typeface="Arial" panose="020B0604020202020204" pitchFamily="34" charset="0"/>
          <a:ea typeface="+mn-ea"/>
          <a:cs typeface="Arial" panose="020B060402020202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2.jpg"/><Relationship Id="rId5" Type="http://schemas.openxmlformats.org/officeDocument/2006/relationships/image" Target="../media/image19.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jp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320040"/>
            <a:ext cx="10241280" cy="1280160"/>
          </a:xfrm>
        </p:spPr>
        <p:txBody>
          <a:bodyPr/>
          <a:lstStyle/>
          <a:p>
            <a:pPr algn="l"/>
            <a:r>
              <a:t>HOT Info Orbs</a:t>
            </a:r>
          </a:p>
        </p:txBody>
      </p:sp>
      <p:sp>
        <p:nvSpPr>
          <p:cNvPr id="3" name="Subtitle 2"/>
          <p:cNvSpPr>
            <a:spLocks noGrp="1"/>
          </p:cNvSpPr>
          <p:nvPr>
            <p:ph type="subTitle" idx="1"/>
          </p:nvPr>
        </p:nvSpPr>
        <p:spPr>
          <a:xfrm>
            <a:off x="548640" y="1600200"/>
            <a:ext cx="10241280" cy="731520"/>
          </a:xfrm>
        </p:spPr>
        <p:txBody>
          <a:bodyPr/>
          <a:lstStyle/>
          <a:p>
            <a:pPr algn="l"/>
            <a:r>
              <a:rPr sz="2400"/>
              <a:t>Five round screens that show what you want to know</a:t>
            </a:r>
          </a:p>
        </p:txBody>
      </p:sp>
      <p:pic>
        <p:nvPicPr>
          <p:cNvPr id="4" name="Picture 3" descr="c-dim-before.jpg"/>
          <p:cNvPicPr>
            <a:picLocks noChangeAspect="1"/>
          </p:cNvPicPr>
          <p:nvPr/>
        </p:nvPicPr>
        <p:blipFill>
          <a:blip r:embed="rId2"/>
          <a:stretch>
            <a:fillRect/>
          </a:stretch>
        </p:blipFill>
        <p:spPr>
          <a:xfrm>
            <a:off x="548640" y="2468880"/>
            <a:ext cx="11064240" cy="3178026"/>
          </a:xfrm>
          <a:prstGeom prst="rect">
            <a:avLst/>
          </a:prstGeom>
          <a:ln w="12700">
            <a:solidFill>
              <a:srgbClr val="5B9BD5"/>
            </a:solidFill>
          </a:ln>
        </p:spPr>
      </p:pic>
      <p:sp>
        <p:nvSpPr>
          <p:cNvPr id="5" name="TextBox 4"/>
          <p:cNvSpPr txBox="1"/>
          <p:nvPr/>
        </p:nvSpPr>
        <p:spPr>
          <a:xfrm>
            <a:off x="548640" y="5760720"/>
            <a:ext cx="11064240" cy="82296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Hands-On Tech, Small Computers group</a:t>
            </a:r>
            <a:r>
              <a:rPr sz="1800" b="0">
                <a:solidFill>
                  <a:srgbClr val="FFFFFF"/>
                </a:solidFill>
                <a:latin typeface="Arial"/>
              </a:rPr>
              <a:t>   ·   October 27, 2026   ·   Scott Dube</a:t>
            </a:r>
          </a:p>
          <a:p>
            <a:pPr algn="l">
              <a:spcBef>
                <a:spcPts val="0"/>
              </a:spcBef>
              <a:spcAft>
                <a:spcPts val="400"/>
              </a:spcAft>
            </a:pPr>
            <a:r>
              <a:rPr sz="1600" b="0">
                <a:solidFill>
                  <a:srgbClr val="BFC7D5"/>
                </a:solidFill>
                <a:latin typeface="Arial"/>
              </a:rPr>
              <a:t>A club build: a board designed by Yang and Scott, firmware and docs on GitHub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pic>
        <p:nvPicPr>
          <p:cNvPr id="3" name="Picture 2" descr="hero-4k-band.jpg"/>
          <p:cNvPicPr>
            <a:picLocks noChangeAspect="1"/>
          </p:cNvPicPr>
          <p:nvPr/>
        </p:nvPicPr>
        <p:blipFill>
          <a:blip r:embed="rId2"/>
          <a:stretch>
            <a:fillRect/>
          </a:stretch>
        </p:blipFill>
        <p:spPr>
          <a:xfrm>
            <a:off x="548640" y="1371600"/>
            <a:ext cx="11064240" cy="2799792"/>
          </a:xfrm>
          <a:prstGeom prst="rect">
            <a:avLst/>
          </a:prstGeom>
          <a:ln w="12700">
            <a:solidFill>
              <a:srgbClr val="5B9BD5"/>
            </a:solidFill>
          </a:ln>
        </p:spPr>
      </p:pic>
      <p:sp>
        <p:nvSpPr>
          <p:cNvPr id="4" name="TextBox 3"/>
          <p:cNvSpPr txBox="1"/>
          <p:nvPr/>
        </p:nvSpPr>
        <p:spPr>
          <a:xfrm>
            <a:off x="548640"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Five round screens</a:t>
            </a:r>
          </a:p>
          <a:p>
            <a:pPr algn="l">
              <a:spcBef>
                <a:spcPts val="0"/>
              </a:spcBef>
              <a:spcAft>
                <a:spcPts val="400"/>
              </a:spcAft>
            </a:pPr>
            <a:r>
              <a:rPr sz="1700" b="0">
                <a:solidFill>
                  <a:srgbClr val="FFFFFF"/>
                </a:solidFill>
                <a:latin typeface="Arial"/>
              </a:rPr>
              <a:t>Color displays an inch and a quarter across, on one board. Each page uses all five.</a:t>
            </a:r>
          </a:p>
        </p:txBody>
      </p:sp>
      <p:sp>
        <p:nvSpPr>
          <p:cNvPr id="5" name="TextBox 4"/>
          <p:cNvSpPr txBox="1"/>
          <p:nvPr/>
        </p:nvSpPr>
        <p:spPr>
          <a:xfrm>
            <a:off x="429767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One small computer</a:t>
            </a:r>
          </a:p>
          <a:p>
            <a:pPr algn="l">
              <a:spcBef>
                <a:spcPts val="0"/>
              </a:spcBef>
              <a:spcAft>
                <a:spcPts val="400"/>
              </a:spcAft>
            </a:pPr>
            <a:r>
              <a:rPr sz="1700" b="0">
                <a:solidFill>
                  <a:srgbClr val="FFFFFF"/>
                </a:solidFill>
                <a:latin typeface="Arial"/>
              </a:rPr>
              <a:t>A XIAO ESP32-S3 with Wi-Fi fetches the time, the weather, the markets and your own data.</a:t>
            </a:r>
          </a:p>
        </p:txBody>
      </p:sp>
      <p:sp>
        <p:nvSpPr>
          <p:cNvPr id="6" name="TextBox 5"/>
          <p:cNvSpPr txBox="1"/>
          <p:nvPr/>
        </p:nvSpPr>
        <p:spPr>
          <a:xfrm>
            <a:off x="804671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Nothing to install</a:t>
            </a:r>
          </a:p>
          <a:p>
            <a:pPr algn="l">
              <a:spcBef>
                <a:spcPts val="0"/>
              </a:spcBef>
              <a:spcAft>
                <a:spcPts val="400"/>
              </a:spcAft>
            </a:pPr>
            <a:r>
              <a:rPr sz="1700" b="0">
                <a:solidFill>
                  <a:srgbClr val="FFFFFF"/>
                </a:solidFill>
                <a:latin typeface="Arial"/>
              </a:rPr>
              <a:t>A USB cable for power, three buttons, and a settings page you open on your phone.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it came from</a:t>
            </a:r>
          </a:p>
        </p:txBody>
      </p:sp>
      <p:pic>
        <p:nvPicPr>
          <p:cNvPr id="3" name="Picture 2" descr="brett-43.jpg"/>
          <p:cNvPicPr>
            <a:picLocks noChangeAspect="1"/>
          </p:cNvPicPr>
          <p:nvPr/>
        </p:nvPicPr>
        <p:blipFill>
          <a:blip r:embed="rId2"/>
          <a:stretch>
            <a:fillRect/>
          </a:stretch>
        </p:blipFill>
        <p:spPr>
          <a:xfrm>
            <a:off x="548640" y="1474470"/>
            <a:ext cx="3566160" cy="2674620"/>
          </a:xfrm>
          <a:prstGeom prst="rect">
            <a:avLst/>
          </a:prstGeom>
          <a:ln w="12700">
            <a:solidFill>
              <a:srgbClr val="5B9BD5"/>
            </a:solidFill>
          </a:ln>
        </p:spPr>
      </p:pic>
      <p:sp>
        <p:nvSpPr>
          <p:cNvPr id="4" name="TextBox 3"/>
          <p:cNvSpPr txBox="1"/>
          <p:nvPr/>
        </p:nvSpPr>
        <p:spPr>
          <a:xfrm>
            <a:off x="54864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original: Info Orbs</a:t>
            </a:r>
          </a:p>
          <a:p>
            <a:pPr algn="l">
              <a:spcBef>
                <a:spcPts val="0"/>
              </a:spcBef>
              <a:spcAft>
                <a:spcPts val="400"/>
              </a:spcAft>
            </a:pPr>
            <a:r>
              <a:rPr sz="1500" b="0">
                <a:solidFill>
                  <a:srgbClr val="FFFFFF"/>
                </a:solidFill>
                <a:latin typeface="Arial"/>
              </a:rPr>
              <a:t>Brett Turner designed the Info Orbs and shared the plans and software for free.</a:t>
            </a:r>
          </a:p>
          <a:p>
            <a:pPr algn="l">
              <a:spcBef>
                <a:spcPts val="0"/>
              </a:spcBef>
              <a:spcAft>
                <a:spcPts val="400"/>
              </a:spcAft>
            </a:pPr>
            <a:r>
              <a:rPr sz="1200" b="0">
                <a:solidFill>
                  <a:srgbClr val="BFC7D5"/>
                </a:solidFill>
                <a:latin typeface="Arial"/>
              </a:rPr>
              <a:t>Photo: Brett Turner, brett.tech</a:t>
            </a:r>
          </a:p>
        </p:txBody>
      </p:sp>
      <p:pic>
        <p:nvPicPr>
          <p:cNvPr id="5" name="Picture 4" descr="S06-hackerboxes-0129-product-image.png"/>
          <p:cNvPicPr>
            <a:picLocks noChangeAspect="1"/>
          </p:cNvPicPr>
          <p:nvPr/>
        </p:nvPicPr>
        <p:blipFill>
          <a:blip r:embed="rId3"/>
          <a:stretch>
            <a:fillRect/>
          </a:stretch>
        </p:blipFill>
        <p:spPr>
          <a:xfrm>
            <a:off x="4513248" y="1463040"/>
            <a:ext cx="3226462" cy="2697480"/>
          </a:xfrm>
          <a:prstGeom prst="rect">
            <a:avLst/>
          </a:prstGeom>
          <a:ln w="12700">
            <a:solidFill>
              <a:srgbClr val="5B9BD5"/>
            </a:solidFill>
          </a:ln>
        </p:spPr>
      </p:pic>
      <p:sp>
        <p:nvSpPr>
          <p:cNvPr id="6" name="TextBox 5"/>
          <p:cNvSpPr txBox="1"/>
          <p:nvPr/>
        </p:nvSpPr>
        <p:spPr>
          <a:xfrm>
            <a:off x="434340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kit: HackerBox 0129 “Orbital”</a:t>
            </a:r>
          </a:p>
          <a:p>
            <a:pPr algn="l">
              <a:spcBef>
                <a:spcPts val="0"/>
              </a:spcBef>
              <a:spcAft>
                <a:spcPts val="400"/>
              </a:spcAft>
            </a:pPr>
            <a:r>
              <a:rPr sz="1500" b="0">
                <a:solidFill>
                  <a:srgbClr val="FFFFFF"/>
                </a:solidFill>
                <a:latin typeface="Arial"/>
              </a:rPr>
              <a:t>HackerBoxes, a monthly electronics kit, sent out its own version.</a:t>
            </a:r>
          </a:p>
          <a:p>
            <a:pPr algn="l">
              <a:spcBef>
                <a:spcPts val="0"/>
              </a:spcBef>
              <a:spcAft>
                <a:spcPts val="400"/>
              </a:spcAft>
            </a:pPr>
            <a:r>
              <a:rPr sz="1200" b="0">
                <a:solidFill>
                  <a:srgbClr val="BFC7D5"/>
                </a:solidFill>
                <a:latin typeface="Arial"/>
              </a:rPr>
              <a:t>Image: HackerBoxes</a:t>
            </a:r>
          </a:p>
        </p:txBody>
      </p:sp>
      <p:pic>
        <p:nvPicPr>
          <p:cNvPr id="7" name="Picture 6" descr="S07-donald-champion-hackerbox-0129-IMG_2820.jpg"/>
          <p:cNvPicPr>
            <a:picLocks noChangeAspect="1"/>
          </p:cNvPicPr>
          <p:nvPr/>
        </p:nvPicPr>
        <p:blipFill>
          <a:blip r:embed="rId4"/>
          <a:stretch>
            <a:fillRect/>
          </a:stretch>
        </p:blipFill>
        <p:spPr>
          <a:xfrm>
            <a:off x="8138160" y="1474470"/>
            <a:ext cx="3566160" cy="2674620"/>
          </a:xfrm>
          <a:prstGeom prst="rect">
            <a:avLst/>
          </a:prstGeom>
          <a:ln w="12700">
            <a:solidFill>
              <a:srgbClr val="5B9BD5"/>
            </a:solidFill>
          </a:ln>
        </p:spPr>
      </p:pic>
      <p:sp>
        <p:nvSpPr>
          <p:cNvPr id="8" name="TextBox 7"/>
          <p:cNvSpPr txBox="1"/>
          <p:nvPr/>
        </p:nvSpPr>
        <p:spPr>
          <a:xfrm>
            <a:off x="813816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Built in the club</a:t>
            </a:r>
          </a:p>
          <a:p>
            <a:pPr algn="l">
              <a:spcBef>
                <a:spcPts val="0"/>
              </a:spcBef>
              <a:spcAft>
                <a:spcPts val="400"/>
              </a:spcAft>
            </a:pPr>
            <a:r>
              <a:rPr sz="1500" b="0">
                <a:solidFill>
                  <a:srgbClr val="FFFFFF"/>
                </a:solidFill>
                <a:latin typeface="Arial"/>
              </a:rPr>
              <a:t>A couple of our members built that kit. We liked it enough to make our own: a new board, new features, a build anyone can follow.</a:t>
            </a:r>
          </a:p>
          <a:p>
            <a:pPr algn="l">
              <a:spcBef>
                <a:spcPts val="0"/>
              </a:spcBef>
              <a:spcAft>
                <a:spcPts val="400"/>
              </a:spcAft>
            </a:pPr>
            <a:r>
              <a:rPr sz="1200" b="0">
                <a:solidFill>
                  <a:srgbClr val="BFC7D5"/>
                </a:solidFill>
                <a:latin typeface="Arial"/>
              </a:rPr>
              <a:t>Photo: Donald Champion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clock and weather</a:t>
            </a:r>
          </a:p>
        </p:txBody>
      </p:sp>
      <p:pic>
        <p:nvPicPr>
          <p:cNvPr id="3" name="Picture 2" descr="c-clock-standard.jpg"/>
          <p:cNvPicPr>
            <a:picLocks noChangeAspect="1"/>
          </p:cNvPicPr>
          <p:nvPr/>
        </p:nvPicPr>
        <p:blipFill>
          <a:blip r:embed="rId2"/>
          <a:stretch>
            <a:fillRect/>
          </a:stretch>
        </p:blipFill>
        <p:spPr>
          <a:xfrm>
            <a:off x="548640" y="1417320"/>
            <a:ext cx="4663440" cy="1335881"/>
          </a:xfrm>
          <a:prstGeom prst="rect">
            <a:avLst/>
          </a:prstGeom>
          <a:ln w="12700">
            <a:solidFill>
              <a:srgbClr val="5B9BD5"/>
            </a:solidFill>
          </a:ln>
        </p:spPr>
      </p:pic>
      <p:sp>
        <p:nvSpPr>
          <p:cNvPr id="4" name="TextBox 3"/>
          <p:cNvSpPr txBox="1"/>
          <p:nvPr/>
        </p:nvSpPr>
        <p:spPr>
          <a:xfrm>
            <a:off x="548640" y="2771489"/>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LED digits</a:t>
            </a:r>
          </a:p>
        </p:txBody>
      </p:sp>
      <p:pic>
        <p:nvPicPr>
          <p:cNvPr id="5" name="Picture 4" descr="c-clock-nixie.jpg"/>
          <p:cNvPicPr>
            <a:picLocks noChangeAspect="1"/>
          </p:cNvPicPr>
          <p:nvPr/>
        </p:nvPicPr>
        <p:blipFill>
          <a:blip r:embed="rId3"/>
          <a:stretch>
            <a:fillRect/>
          </a:stretch>
        </p:blipFill>
        <p:spPr>
          <a:xfrm>
            <a:off x="548640" y="3128105"/>
            <a:ext cx="4663440" cy="1335881"/>
          </a:xfrm>
          <a:prstGeom prst="rect">
            <a:avLst/>
          </a:prstGeom>
          <a:ln w="12700">
            <a:solidFill>
              <a:srgbClr val="5B9BD5"/>
            </a:solidFill>
          </a:ln>
        </p:spPr>
      </p:pic>
      <p:sp>
        <p:nvSpPr>
          <p:cNvPr id="6" name="TextBox 5"/>
          <p:cNvSpPr txBox="1"/>
          <p:nvPr/>
        </p:nvSpPr>
        <p:spPr>
          <a:xfrm>
            <a:off x="548640" y="4482274"/>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Nixie face (middle button)</a:t>
            </a:r>
          </a:p>
        </p:txBody>
      </p:sp>
      <p:pic>
        <p:nvPicPr>
          <p:cNvPr id="7" name="Picture 6" descr="c-dim-before.jpg"/>
          <p:cNvPicPr>
            <a:picLocks noChangeAspect="1"/>
          </p:cNvPicPr>
          <p:nvPr/>
        </p:nvPicPr>
        <p:blipFill>
          <a:blip r:embed="rId4"/>
          <a:stretch>
            <a:fillRect/>
          </a:stretch>
        </p:blipFill>
        <p:spPr>
          <a:xfrm>
            <a:off x="548640" y="4838890"/>
            <a:ext cx="4663440" cy="1339498"/>
          </a:xfrm>
          <a:prstGeom prst="rect">
            <a:avLst/>
          </a:prstGeom>
          <a:ln w="12700">
            <a:solidFill>
              <a:srgbClr val="5B9BD5"/>
            </a:solidFill>
          </a:ln>
        </p:spPr>
      </p:pic>
      <p:sp>
        <p:nvSpPr>
          <p:cNvPr id="8" name="TextBox 7"/>
          <p:cNvSpPr txBox="1"/>
          <p:nvPr/>
        </p:nvSpPr>
        <p:spPr>
          <a:xfrm>
            <a:off x="548640" y="6196677"/>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Weather: now, today, and the next three days</a:t>
            </a:r>
          </a:p>
        </p:txBody>
      </p:sp>
      <p:pic>
        <p:nvPicPr>
          <p:cNvPr id="9" name="Picture 8" descr="sunmoon-close.jpg"/>
          <p:cNvPicPr>
            <a:picLocks noChangeAspect="1"/>
          </p:cNvPicPr>
          <p:nvPr/>
        </p:nvPicPr>
        <p:blipFill>
          <a:blip r:embed="rId5"/>
          <a:stretch>
            <a:fillRect/>
          </a:stretch>
        </p:blipFill>
        <p:spPr>
          <a:xfrm>
            <a:off x="5577840" y="1417320"/>
            <a:ext cx="6172200" cy="3471862"/>
          </a:xfrm>
          <a:prstGeom prst="rect">
            <a:avLst/>
          </a:prstGeom>
          <a:ln w="12700">
            <a:solidFill>
              <a:srgbClr val="5B9BD5"/>
            </a:solidFill>
          </a:ln>
        </p:spPr>
      </p:pic>
      <p:sp>
        <p:nvSpPr>
          <p:cNvPr id="10" name="TextBox 9"/>
          <p:cNvSpPr txBox="1"/>
          <p:nvPr/>
        </p:nvSpPr>
        <p:spPr>
          <a:xfrm>
            <a:off x="5577840" y="5026342"/>
            <a:ext cx="6172200" cy="155448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Sunrise, sunset and tonight’s moon</a:t>
            </a:r>
          </a:p>
          <a:p>
            <a:pPr algn="l">
              <a:spcBef>
                <a:spcPts val="0"/>
              </a:spcBef>
              <a:spcAft>
                <a:spcPts val="400"/>
              </a:spcAft>
            </a:pPr>
            <a:r>
              <a:rPr sz="1500" b="0">
                <a:solidFill>
                  <a:srgbClr val="FFFFFF"/>
                </a:solidFill>
                <a:latin typeface="Arial"/>
              </a:rPr>
              <a:t>The clock spreads across all five orbs: 12- or 24-hour, in any colors you like.</a:t>
            </a:r>
          </a:p>
          <a:p>
            <a:pPr algn="l">
              <a:spcBef>
                <a:spcPts val="0"/>
              </a:spcBef>
              <a:spcAft>
                <a:spcPts val="400"/>
              </a:spcAft>
            </a:pPr>
            <a:r>
              <a:rPr sz="1500" b="0">
                <a:solidFill>
                  <a:srgbClr val="FFFFFF"/>
                </a:solidFill>
                <a:latin typeface="Arial"/>
              </a:rPr>
              <a:t>Weather for any town, or straight from your own Tempest station. Up to two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stocks and your own data</a:t>
            </a:r>
          </a:p>
        </p:txBody>
      </p:sp>
      <p:pic>
        <p:nvPicPr>
          <p:cNvPr id="3" name="Picture 2" descr="c-stocks-open.jpg"/>
          <p:cNvPicPr>
            <a:picLocks noChangeAspect="1"/>
          </p:cNvPicPr>
          <p:nvPr/>
        </p:nvPicPr>
        <p:blipFill>
          <a:blip r:embed="rId2"/>
          <a:stretch>
            <a:fillRect/>
          </a:stretch>
        </p:blipFill>
        <p:spPr>
          <a:xfrm>
            <a:off x="548640" y="1417320"/>
            <a:ext cx="4206240" cy="1475451"/>
          </a:xfrm>
          <a:prstGeom prst="rect">
            <a:avLst/>
          </a:prstGeom>
          <a:ln w="12700">
            <a:solidFill>
              <a:srgbClr val="5B9BD5"/>
            </a:solidFill>
          </a:ln>
        </p:spPr>
      </p:pic>
      <p:sp>
        <p:nvSpPr>
          <p:cNvPr id="4" name="TextBox 3"/>
          <p:cNvSpPr txBox="1"/>
          <p:nvPr/>
        </p:nvSpPr>
        <p:spPr>
          <a:xfrm>
            <a:off x="5029200" y="1417320"/>
            <a:ext cx="6720840" cy="147545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Stocks</a:t>
            </a:r>
          </a:p>
          <a:p>
            <a:pPr algn="l">
              <a:spcBef>
                <a:spcPts val="0"/>
              </a:spcBef>
              <a:spcAft>
                <a:spcPts val="400"/>
              </a:spcAft>
            </a:pPr>
            <a:r>
              <a:rPr sz="1500" b="0">
                <a:solidFill>
                  <a:srgbClr val="FFFFFF"/>
                </a:solidFill>
                <a:latin typeface="Arial"/>
              </a:rPr>
              <a:t>Five tickers, one per orb: price, change and the day’s range. Stocks, funds or crypto.</a:t>
            </a:r>
          </a:p>
        </p:txBody>
      </p:sp>
      <p:pic>
        <p:nvPicPr>
          <p:cNvPr id="5" name="Picture 4" descr="c-wide-mqtt.jpg"/>
          <p:cNvPicPr>
            <a:picLocks noChangeAspect="1"/>
          </p:cNvPicPr>
          <p:nvPr/>
        </p:nvPicPr>
        <p:blipFill>
          <a:blip r:embed="rId3"/>
          <a:stretch>
            <a:fillRect/>
          </a:stretch>
        </p:blipFill>
        <p:spPr>
          <a:xfrm>
            <a:off x="548640" y="3057363"/>
            <a:ext cx="4206240" cy="1473981"/>
          </a:xfrm>
          <a:prstGeom prst="rect">
            <a:avLst/>
          </a:prstGeom>
          <a:ln w="12700">
            <a:solidFill>
              <a:srgbClr val="5B9BD5"/>
            </a:solidFill>
          </a:ln>
        </p:spPr>
      </p:pic>
      <p:sp>
        <p:nvSpPr>
          <p:cNvPr id="6" name="TextBox 5"/>
          <p:cNvSpPr txBox="1"/>
          <p:nvPr/>
        </p:nvSpPr>
        <p:spPr>
          <a:xfrm>
            <a:off x="5029200" y="3057363"/>
            <a:ext cx="6720840" cy="147398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MQTT</a:t>
            </a:r>
          </a:p>
          <a:p>
            <a:pPr algn="l">
              <a:spcBef>
                <a:spcPts val="0"/>
              </a:spcBef>
              <a:spcAft>
                <a:spcPts val="400"/>
              </a:spcAft>
            </a:pPr>
            <a:r>
              <a:rPr sz="1500" b="0">
                <a:solidFill>
                  <a:srgbClr val="FFFFFF"/>
                </a:solidFill>
                <a:latin typeface="Arial"/>
              </a:rPr>
              <a:t>Five live values from Home Assistant, or anything else that speaks MQTT.</a:t>
            </a:r>
          </a:p>
        </p:txBody>
      </p:sp>
      <p:pic>
        <p:nvPicPr>
          <p:cNvPr id="7" name="Picture 6" descr="c-wide-webdata.jpg"/>
          <p:cNvPicPr>
            <a:picLocks noChangeAspect="1"/>
          </p:cNvPicPr>
          <p:nvPr/>
        </p:nvPicPr>
        <p:blipFill>
          <a:blip r:embed="rId4"/>
          <a:stretch>
            <a:fillRect/>
          </a:stretch>
        </p:blipFill>
        <p:spPr>
          <a:xfrm>
            <a:off x="548640" y="4695936"/>
            <a:ext cx="4206240" cy="1473981"/>
          </a:xfrm>
          <a:prstGeom prst="rect">
            <a:avLst/>
          </a:prstGeom>
          <a:ln w="12700">
            <a:solidFill>
              <a:srgbClr val="5B9BD5"/>
            </a:solidFill>
          </a:ln>
        </p:spPr>
      </p:pic>
      <p:sp>
        <p:nvSpPr>
          <p:cNvPr id="8" name="TextBox 7"/>
          <p:cNvSpPr txBox="1"/>
          <p:nvPr/>
        </p:nvSpPr>
        <p:spPr>
          <a:xfrm>
            <a:off x="5029200" y="4695936"/>
            <a:ext cx="6720840" cy="147398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Web Data</a:t>
            </a:r>
          </a:p>
          <a:p>
            <a:pPr algn="l">
              <a:spcBef>
                <a:spcPts val="0"/>
              </a:spcBef>
              <a:spcAft>
                <a:spcPts val="400"/>
              </a:spcAft>
            </a:pPr>
            <a:r>
              <a:rPr sz="1500" b="0">
                <a:solidFill>
                  <a:srgbClr val="FFFFFF"/>
                </a:solidFill>
                <a:latin typeface="Arial"/>
              </a:rPr>
              <a:t>A small JSON file from any web address, laid out the way you want.</a:t>
            </a:r>
          </a:p>
        </p:txBody>
      </p:sp>
      <p:sp>
        <p:nvSpPr>
          <p:cNvPr id="9" name="TextBox 8"/>
          <p:cNvSpPr txBox="1"/>
          <p:nvPr/>
        </p:nvSpPr>
        <p:spPr>
          <a:xfrm>
            <a:off x="548640" y="6288790"/>
            <a:ext cx="11201400" cy="45720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BFC7D5"/>
                </a:solidFill>
                <a:latin typeface="Arial"/>
              </a:rPr>
              <a:t>Left and right buttons step through the pages. Leave it alone and it rotates on its own. The last two pages are ones you build yourself.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it’s built</a:t>
            </a:r>
          </a:p>
        </p:txBody>
      </p:sp>
      <p:pic>
        <p:nvPicPr>
          <p:cNvPr id="3" name="Picture 2" descr="b24-front-crop.png"/>
          <p:cNvPicPr>
            <a:picLocks noChangeAspect="1"/>
          </p:cNvPicPr>
          <p:nvPr/>
        </p:nvPicPr>
        <p:blipFill>
          <a:blip r:embed="rId2"/>
          <a:stretch>
            <a:fillRect/>
          </a:stretch>
        </p:blipFill>
        <p:spPr>
          <a:xfrm>
            <a:off x="1051560" y="1325880"/>
            <a:ext cx="10058400" cy="2781628"/>
          </a:xfrm>
          <a:prstGeom prst="rect">
            <a:avLst/>
          </a:prstGeom>
        </p:spPr>
      </p:pic>
      <p:sp>
        <p:nvSpPr>
          <p:cNvPr id="4" name="TextBox 3"/>
          <p:cNvSpPr txBox="1"/>
          <p:nvPr/>
        </p:nvSpPr>
        <p:spPr>
          <a:xfrm>
            <a:off x="54864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XIAO ESP32-S3 or S3 Plus</a:t>
            </a:r>
          </a:p>
          <a:p>
            <a:pPr algn="l">
              <a:spcBef>
                <a:spcPts val="0"/>
              </a:spcBef>
              <a:spcAft>
                <a:spcPts val="400"/>
              </a:spcAft>
            </a:pPr>
            <a:r>
              <a:rPr sz="1500" b="0">
                <a:solidFill>
                  <a:srgbClr val="FFFFFF"/>
                </a:solidFill>
                <a:latin typeface="Arial"/>
              </a:rPr>
              <a:t>the brain, Wi-Fi built in, in a socket</a:t>
            </a:r>
          </a:p>
        </p:txBody>
      </p:sp>
      <p:sp>
        <p:nvSpPr>
          <p:cNvPr id="5" name="TextBox 4"/>
          <p:cNvSpPr txBox="1"/>
          <p:nvPr/>
        </p:nvSpPr>
        <p:spPr>
          <a:xfrm>
            <a:off x="278892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Five 1.28 in displays</a:t>
            </a:r>
          </a:p>
          <a:p>
            <a:pPr algn="l">
              <a:spcBef>
                <a:spcPts val="0"/>
              </a:spcBef>
              <a:spcAft>
                <a:spcPts val="400"/>
              </a:spcAft>
            </a:pPr>
            <a:r>
              <a:rPr sz="1500" b="0">
                <a:solidFill>
                  <a:srgbClr val="FFFFFF"/>
                </a:solidFill>
                <a:latin typeface="Arial"/>
              </a:rPr>
              <a:t>GC9A01 round color TFTs, socketed</a:t>
            </a:r>
          </a:p>
        </p:txBody>
      </p:sp>
      <p:sp>
        <p:nvSpPr>
          <p:cNvPr id="6" name="TextBox 5"/>
          <p:cNvSpPr txBox="1"/>
          <p:nvPr/>
        </p:nvSpPr>
        <p:spPr>
          <a:xfrm>
            <a:off x="502920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Three buttons</a:t>
            </a:r>
          </a:p>
          <a:p>
            <a:pPr algn="l">
              <a:spcBef>
                <a:spcPts val="0"/>
              </a:spcBef>
              <a:spcAft>
                <a:spcPts val="400"/>
              </a:spcAft>
            </a:pPr>
            <a:r>
              <a:rPr sz="1500" b="0">
                <a:solidFill>
                  <a:srgbClr val="FFFFFF"/>
                </a:solidFill>
                <a:latin typeface="Arial"/>
              </a:rPr>
              <a:t>pages, clock face, wake</a:t>
            </a:r>
          </a:p>
        </p:txBody>
      </p:sp>
      <p:sp>
        <p:nvSpPr>
          <p:cNvPr id="7" name="TextBox 6"/>
          <p:cNvSpPr txBox="1"/>
          <p:nvPr/>
        </p:nvSpPr>
        <p:spPr>
          <a:xfrm>
            <a:off x="726948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USB-C</a:t>
            </a:r>
          </a:p>
          <a:p>
            <a:pPr algn="l">
              <a:spcBef>
                <a:spcPts val="0"/>
              </a:spcBef>
              <a:spcAft>
                <a:spcPts val="400"/>
              </a:spcAft>
            </a:pPr>
            <a:r>
              <a:rPr sz="1500" b="0">
                <a:solidFill>
                  <a:srgbClr val="FFFFFF"/>
                </a:solidFill>
                <a:latin typeface="Arial"/>
              </a:rPr>
              <a:t>power and the first firmware load</a:t>
            </a:r>
          </a:p>
        </p:txBody>
      </p:sp>
      <p:sp>
        <p:nvSpPr>
          <p:cNvPr id="8" name="TextBox 7"/>
          <p:cNvSpPr txBox="1"/>
          <p:nvPr/>
        </p:nvSpPr>
        <p:spPr>
          <a:xfrm>
            <a:off x="950976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Under 2 W</a:t>
            </a:r>
          </a:p>
          <a:p>
            <a:pPr algn="l">
              <a:spcBef>
                <a:spcPts val="0"/>
              </a:spcBef>
              <a:spcAft>
                <a:spcPts val="400"/>
              </a:spcAft>
            </a:pPr>
            <a:r>
              <a:rPr sz="1500" b="0">
                <a:solidFill>
                  <a:srgbClr val="FFFFFF"/>
                </a:solidFill>
                <a:latin typeface="Arial"/>
              </a:rPr>
              <a:t>1.7 W measured at 5 V</a:t>
            </a:r>
          </a:p>
        </p:txBody>
      </p:sp>
      <p:sp>
        <p:nvSpPr>
          <p:cNvPr id="9" name="TextBox 8"/>
          <p:cNvSpPr txBox="1"/>
          <p:nvPr/>
        </p:nvSpPr>
        <p:spPr>
          <a:xfrm>
            <a:off x="548640" y="5760720"/>
            <a:ext cx="11064240" cy="4572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Board by Yang and Scott</a:t>
            </a:r>
            <a:r>
              <a:rPr sz="1600" b="0">
                <a:solidFill>
                  <a:srgbClr val="FFFFFF"/>
                </a:solidFill>
                <a:latin typeface="Arial"/>
              </a:rPr>
              <a:t>   ·   made by JLCPCB   ·   every file on GitHub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displays run on 5 V</a:t>
            </a:r>
          </a:p>
        </p:txBody>
      </p:sp>
      <p:pic>
        <p:nvPicPr>
          <p:cNvPr id="3" name="Picture 2" descr="module-2026-10-17.jpg"/>
          <p:cNvPicPr>
            <a:picLocks noChangeAspect="1"/>
          </p:cNvPicPr>
          <p:nvPr/>
        </p:nvPicPr>
        <p:blipFill>
          <a:blip r:embed="rId2"/>
          <a:stretch>
            <a:fillRect/>
          </a:stretch>
        </p:blipFill>
        <p:spPr>
          <a:xfrm>
            <a:off x="548640" y="1417320"/>
            <a:ext cx="3086100" cy="4114800"/>
          </a:xfrm>
          <a:prstGeom prst="rect">
            <a:avLst/>
          </a:prstGeom>
          <a:ln w="12700">
            <a:solidFill>
              <a:srgbClr val="5B9BD5"/>
            </a:solidFill>
          </a:ln>
        </p:spPr>
      </p:pic>
      <p:pic>
        <p:nvPicPr>
          <p:cNvPr id="4" name="Picture 3" descr="display-back-2026-10-17.jpg"/>
          <p:cNvPicPr>
            <a:picLocks noChangeAspect="1"/>
          </p:cNvPicPr>
          <p:nvPr/>
        </p:nvPicPr>
        <p:blipFill>
          <a:blip r:embed="rId3"/>
          <a:stretch>
            <a:fillRect/>
          </a:stretch>
        </p:blipFill>
        <p:spPr>
          <a:xfrm>
            <a:off x="3840480" y="1417320"/>
            <a:ext cx="3086100" cy="4114800"/>
          </a:xfrm>
          <a:prstGeom prst="rect">
            <a:avLst/>
          </a:prstGeom>
          <a:ln w="12700">
            <a:solidFill>
              <a:srgbClr val="5B9BD5"/>
            </a:solidFill>
          </a:ln>
        </p:spPr>
      </p:pic>
      <p:sp>
        <p:nvSpPr>
          <p:cNvPr id="5" name="TextBox 4"/>
          <p:cNvSpPr txBox="1"/>
          <p:nvPr/>
        </p:nvSpPr>
        <p:spPr>
          <a:xfrm>
            <a:off x="54864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ESP32 module, hottest point</a:t>
            </a:r>
          </a:p>
        </p:txBody>
      </p:sp>
      <p:sp>
        <p:nvSpPr>
          <p:cNvPr id="6" name="TextBox 5"/>
          <p:cNvSpPr txBox="1"/>
          <p:nvPr/>
        </p:nvSpPr>
        <p:spPr>
          <a:xfrm>
            <a:off x="384048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backs of three displays</a:t>
            </a:r>
          </a:p>
        </p:txBody>
      </p:sp>
      <p:sp>
        <p:nvSpPr>
          <p:cNvPr id="7" name="TextBox 6"/>
          <p:cNvSpPr txBox="1"/>
          <p:nvPr/>
        </p:nvSpPr>
        <p:spPr>
          <a:xfrm>
            <a:off x="7315200" y="137160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43.6 °C</a:t>
            </a:r>
          </a:p>
          <a:p>
            <a:pPr algn="l">
              <a:spcBef>
                <a:spcPts val="0"/>
              </a:spcBef>
              <a:spcAft>
                <a:spcPts val="400"/>
              </a:spcAft>
            </a:pPr>
            <a:r>
              <a:rPr sz="1400" b="0">
                <a:solidFill>
                  <a:srgbClr val="FFFFFF"/>
                </a:solidFill>
                <a:latin typeface="Arial"/>
              </a:rPr>
              <a:t>our module, after hours of running</a:t>
            </a:r>
          </a:p>
        </p:txBody>
      </p:sp>
      <p:sp>
        <p:nvSpPr>
          <p:cNvPr id="8" name="TextBox 7"/>
          <p:cNvSpPr txBox="1"/>
          <p:nvPr/>
        </p:nvSpPr>
        <p:spPr>
          <a:xfrm>
            <a:off x="7315200" y="256032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37.9 °C</a:t>
            </a:r>
          </a:p>
          <a:p>
            <a:pPr algn="l">
              <a:spcBef>
                <a:spcPts val="0"/>
              </a:spcBef>
              <a:spcAft>
                <a:spcPts val="400"/>
              </a:spcAft>
            </a:pPr>
            <a:r>
              <a:rPr sz="1400" b="0">
                <a:solidFill>
                  <a:srgbClr val="FFFFFF"/>
                </a:solidFill>
                <a:latin typeface="Arial"/>
              </a:rPr>
              <a:t>our display backs</a:t>
            </a:r>
          </a:p>
        </p:txBody>
      </p:sp>
      <p:sp>
        <p:nvSpPr>
          <p:cNvPr id="9" name="TextBox 8"/>
          <p:cNvSpPr txBox="1"/>
          <p:nvPr/>
        </p:nvSpPr>
        <p:spPr>
          <a:xfrm>
            <a:off x="7315200" y="3749039"/>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BFC7D5"/>
                </a:solidFill>
                <a:latin typeface="Arial"/>
              </a:rPr>
              <a:t>✖  82 °C</a:t>
            </a:r>
          </a:p>
          <a:p>
            <a:pPr algn="l">
              <a:spcBef>
                <a:spcPts val="0"/>
              </a:spcBef>
              <a:spcAft>
                <a:spcPts val="400"/>
              </a:spcAft>
            </a:pPr>
            <a:r>
              <a:rPr sz="1400" b="0">
                <a:solidFill>
                  <a:srgbClr val="FFFFFF"/>
                </a:solidFill>
                <a:latin typeface="Arial"/>
              </a:rPr>
              <a:t>the kit’s module: “too hot to touch”, a builder’s report</a:t>
            </a:r>
          </a:p>
        </p:txBody>
      </p:sp>
      <p:sp>
        <p:nvSpPr>
          <p:cNvPr id="10" name="TextBox 9"/>
          <p:cNvSpPr txBox="1"/>
          <p:nvPr/>
        </p:nvSpPr>
        <p:spPr>
          <a:xfrm>
            <a:off x="7315200" y="4983480"/>
            <a:ext cx="4434840" cy="1188720"/>
          </a:xfrm>
          <a:prstGeom prst="rect">
            <a:avLst/>
          </a:prstGeom>
          <a:noFill/>
        </p:spPr>
        <p:txBody>
          <a:bodyPr wrap="square" lIns="45720" rIns="45720" tIns="27432" bIns="27432" anchor="t">
            <a:spAutoFit/>
          </a:bodyPr>
          <a:lstStyle/>
          <a:p>
            <a:pPr algn="l">
              <a:spcBef>
                <a:spcPts val="0"/>
              </a:spcBef>
              <a:spcAft>
                <a:spcPts val="400"/>
              </a:spcAft>
            </a:pPr>
            <a:r>
              <a:rPr sz="1500" b="0">
                <a:solidFill>
                  <a:srgbClr val="FFFFFF"/>
                </a:solidFill>
                <a:latin typeface="Arial"/>
              </a:rPr>
              <a:t>On the kit every display ran off the ESP’s regulator. Here each display has its own 5 V feed, so they carry their own share and stay warm, not hot.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Setting it up from your phone</a:t>
            </a:r>
          </a:p>
        </p:txBody>
      </p:sp>
      <p:pic>
        <p:nvPicPr>
          <p:cNvPr id="3" name="Picture 2" descr="panel-rotation-clock.png"/>
          <p:cNvPicPr>
            <a:picLocks noChangeAspect="1"/>
          </p:cNvPicPr>
          <p:nvPr/>
        </p:nvPicPr>
        <p:blipFill>
          <a:blip r:embed="rId2"/>
          <a:stretch>
            <a:fillRect/>
          </a:stretch>
        </p:blipFill>
        <p:spPr>
          <a:xfrm>
            <a:off x="548640" y="1417320"/>
            <a:ext cx="3336757" cy="4754880"/>
          </a:xfrm>
          <a:prstGeom prst="rect">
            <a:avLst/>
          </a:prstGeom>
          <a:ln w="12700">
            <a:solidFill>
              <a:srgbClr val="5B9BD5"/>
            </a:solidFill>
          </a:ln>
        </p:spPr>
      </p:pic>
      <p:pic>
        <p:nvPicPr>
          <p:cNvPr id="4" name="Picture 3" descr="panel-dim-off.png"/>
          <p:cNvPicPr>
            <a:picLocks noChangeAspect="1"/>
          </p:cNvPicPr>
          <p:nvPr/>
        </p:nvPicPr>
        <p:blipFill>
          <a:blip r:embed="rId3"/>
          <a:stretch>
            <a:fillRect/>
          </a:stretch>
        </p:blipFill>
        <p:spPr>
          <a:xfrm>
            <a:off x="4114800" y="1417320"/>
            <a:ext cx="3359888" cy="3611880"/>
          </a:xfrm>
          <a:prstGeom prst="rect">
            <a:avLst/>
          </a:prstGeom>
          <a:ln w="12700">
            <a:solidFill>
              <a:srgbClr val="5B9BD5"/>
            </a:solidFill>
          </a:ln>
        </p:spPr>
      </p:pic>
      <p:sp>
        <p:nvSpPr>
          <p:cNvPr id="5" name="TextBox 4"/>
          <p:cNvSpPr txBox="1"/>
          <p:nvPr/>
        </p:nvSpPr>
        <p:spPr>
          <a:xfrm>
            <a:off x="548640" y="6199632"/>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Pages and clock</a:t>
            </a:r>
          </a:p>
        </p:txBody>
      </p:sp>
      <p:sp>
        <p:nvSpPr>
          <p:cNvPr id="6" name="TextBox 5"/>
          <p:cNvSpPr txBox="1"/>
          <p:nvPr/>
        </p:nvSpPr>
        <p:spPr>
          <a:xfrm>
            <a:off x="4114800" y="5047488"/>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Dim and screens-off times</a:t>
            </a:r>
          </a:p>
        </p:txBody>
      </p:sp>
      <p:pic>
        <p:nvPicPr>
          <p:cNvPr id="7" name="Picture 6" descr="panel-startup.png"/>
          <p:cNvPicPr>
            <a:picLocks noChangeAspect="1"/>
          </p:cNvPicPr>
          <p:nvPr/>
        </p:nvPicPr>
        <p:blipFill>
          <a:blip r:embed="rId4"/>
          <a:stretch>
            <a:fillRect/>
          </a:stretch>
        </p:blipFill>
        <p:spPr>
          <a:xfrm>
            <a:off x="7726679" y="1417320"/>
            <a:ext cx="4023360" cy="2145792"/>
          </a:xfrm>
          <a:prstGeom prst="rect">
            <a:avLst/>
          </a:prstGeom>
          <a:ln w="12700">
            <a:solidFill>
              <a:srgbClr val="5B9BD5"/>
            </a:solidFill>
          </a:ln>
        </p:spPr>
      </p:pic>
      <p:sp>
        <p:nvSpPr>
          <p:cNvPr id="8" name="TextBox 7"/>
          <p:cNvSpPr txBox="1"/>
          <p:nvPr/>
        </p:nvSpPr>
        <p:spPr>
          <a:xfrm>
            <a:off x="7726679" y="3599688"/>
            <a:ext cx="402336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Your own start-up picture</a:t>
            </a:r>
          </a:p>
        </p:txBody>
      </p:sp>
      <p:sp>
        <p:nvSpPr>
          <p:cNvPr id="9" name="TextBox 8"/>
          <p:cNvSpPr txBox="1"/>
          <p:nvPr/>
        </p:nvSpPr>
        <p:spPr>
          <a:xfrm>
            <a:off x="7726679" y="3974592"/>
            <a:ext cx="4023360" cy="210312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FFFFFF"/>
                </a:solidFill>
                <a:latin typeface="Arial"/>
              </a:rPr>
              <a:t>Tick the pages you want; untick the rest</a:t>
            </a:r>
          </a:p>
          <a:p>
            <a:pPr algn="l">
              <a:spcBef>
                <a:spcPts val="0"/>
              </a:spcBef>
              <a:spcAft>
                <a:spcPts val="400"/>
              </a:spcAft>
            </a:pPr>
            <a:r>
              <a:rPr sz="1400" b="0">
                <a:solidFill>
                  <a:srgbClr val="FFFFFF"/>
                </a:solidFill>
                <a:latin typeface="Arial"/>
              </a:rPr>
              <a:t>Your town, tickers, time zone, colors</a:t>
            </a:r>
          </a:p>
          <a:p>
            <a:pPr algn="l">
              <a:spcBef>
                <a:spcPts val="0"/>
              </a:spcBef>
              <a:spcAft>
                <a:spcPts val="400"/>
              </a:spcAft>
            </a:pPr>
            <a:r>
              <a:rPr sz="1400" b="0">
                <a:solidFill>
                  <a:srgbClr val="FFFFFF"/>
                </a:solidFill>
                <a:latin typeface="Arial"/>
              </a:rPr>
              <a:t>Dims in the evening, screens off at bedtime; any button wakes it</a:t>
            </a:r>
          </a:p>
          <a:p>
            <a:pPr algn="l">
              <a:spcBef>
                <a:spcPts val="0"/>
              </a:spcBef>
              <a:spcAft>
                <a:spcPts val="400"/>
              </a:spcAft>
            </a:pPr>
            <a:r>
              <a:rPr sz="1400" b="0">
                <a:solidFill>
                  <a:srgbClr val="FFFFFF"/>
                </a:solidFill>
                <a:latin typeface="Arial"/>
              </a:rPr>
              <a:t>Firmware loads once over USB, then updates over Wi-Fi from this page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next</a:t>
            </a:r>
          </a:p>
        </p:txBody>
      </p:sp>
      <p:pic>
        <p:nvPicPr>
          <p:cNvPr id="3" name="Picture 2" descr="b24-back-crop.png"/>
          <p:cNvPicPr>
            <a:picLocks noChangeAspect="1"/>
          </p:cNvPicPr>
          <p:nvPr/>
        </p:nvPicPr>
        <p:blipFill>
          <a:blip r:embed="rId2"/>
          <a:stretch>
            <a:fillRect/>
          </a:stretch>
        </p:blipFill>
        <p:spPr>
          <a:xfrm>
            <a:off x="548640" y="1371600"/>
            <a:ext cx="6766560" cy="2606506"/>
          </a:xfrm>
          <a:prstGeom prst="rect">
            <a:avLst/>
          </a:prstGeom>
        </p:spPr>
      </p:pic>
      <p:sp>
        <p:nvSpPr>
          <p:cNvPr id="4" name="TextBox 3"/>
          <p:cNvSpPr txBox="1"/>
          <p:nvPr/>
        </p:nvSpPr>
        <p:spPr>
          <a:xfrm>
            <a:off x="7589520" y="1463040"/>
            <a:ext cx="4160520" cy="201168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Board rev 2.4: design locked</a:t>
            </a:r>
          </a:p>
          <a:p>
            <a:pPr algn="l">
              <a:spcBef>
                <a:spcPts val="0"/>
              </a:spcBef>
              <a:spcAft>
                <a:spcPts val="400"/>
              </a:spcAft>
            </a:pPr>
            <a:r>
              <a:rPr sz="1500" b="0">
                <a:solidFill>
                  <a:srgbClr val="FFFFFF"/>
                </a:solidFill>
                <a:latin typeface="Arial"/>
              </a:rPr>
              <a:t>XIAO ESP32-S3 or S3 Plus, 46 mm display pitch to match the enclosure, buttons on top. This is the board the club builds.</a:t>
            </a:r>
          </a:p>
        </p:txBody>
      </p:sp>
      <p:pic>
        <p:nvPicPr>
          <p:cNvPr id="5" name="Picture 4" descr="enclosure-concept.png"/>
          <p:cNvPicPr>
            <a:picLocks noChangeAspect="1"/>
          </p:cNvPicPr>
          <p:nvPr/>
        </p:nvPicPr>
        <p:blipFill>
          <a:blip r:embed="rId3"/>
          <a:stretch>
            <a:fillRect/>
          </a:stretch>
        </p:blipFill>
        <p:spPr>
          <a:xfrm>
            <a:off x="548640" y="3749039"/>
            <a:ext cx="6766560" cy="2120071"/>
          </a:xfrm>
          <a:prstGeom prst="rect">
            <a:avLst/>
          </a:prstGeom>
          <a:ln w="12700">
            <a:solidFill>
              <a:srgbClr val="5B9BD5"/>
            </a:solidFill>
          </a:ln>
        </p:spPr>
      </p:pic>
      <p:sp>
        <p:nvSpPr>
          <p:cNvPr id="6" name="TextBox 5"/>
          <p:cNvSpPr txBox="1"/>
          <p:nvPr/>
        </p:nvSpPr>
        <p:spPr>
          <a:xfrm>
            <a:off x="7589520" y="3840480"/>
            <a:ext cx="4160520" cy="228600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Enclosure: concept, by Yang</a:t>
            </a:r>
          </a:p>
          <a:p>
            <a:pPr algn="l">
              <a:spcBef>
                <a:spcPts val="0"/>
              </a:spcBef>
              <a:spcAft>
                <a:spcPts val="400"/>
              </a:spcAft>
            </a:pPr>
            <a:r>
              <a:rPr sz="1500" b="0">
                <a:solidFill>
                  <a:srgbClr val="FFFFFF"/>
                </a:solidFill>
                <a:latin typeface="Arial"/>
              </a:rPr>
              <a:t>“Winged Speedster”: brass rings around each screen, finned end caps, all 3D printed. Still a design.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club build</a:t>
            </a:r>
          </a:p>
        </p:txBody>
      </p:sp>
      <p:sp>
        <p:nvSpPr>
          <p:cNvPr id="3" name="TextBox 2"/>
          <p:cNvSpPr txBox="1"/>
          <p:nvPr/>
        </p:nvSpPr>
        <p:spPr>
          <a:xfrm>
            <a:off x="548640" y="146304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1  Get the parts</a:t>
            </a:r>
          </a:p>
          <a:p>
            <a:pPr algn="l">
              <a:spcBef>
                <a:spcPts val="0"/>
              </a:spcBef>
              <a:spcAft>
                <a:spcPts val="400"/>
              </a:spcAft>
            </a:pPr>
            <a:r>
              <a:rPr sz="1500" b="0">
                <a:solidFill>
                  <a:srgbClr val="FFFFFF"/>
                </a:solidFill>
                <a:latin typeface="Arial"/>
              </a:rPr>
              <a:t>Board, XIAO ESP32-S3 or S3 Plus, five displays, sockets, buttons, a USB-C cable.</a:t>
            </a:r>
          </a:p>
        </p:txBody>
      </p:sp>
      <p:sp>
        <p:nvSpPr>
          <p:cNvPr id="4" name="TextBox 3"/>
          <p:cNvSpPr txBox="1"/>
          <p:nvPr/>
        </p:nvSpPr>
        <p:spPr>
          <a:xfrm>
            <a:off x="548640" y="251460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2  Build night</a:t>
            </a:r>
          </a:p>
          <a:p>
            <a:pPr algn="l">
              <a:spcBef>
                <a:spcPts val="0"/>
              </a:spcBef>
              <a:spcAft>
                <a:spcPts val="400"/>
              </a:spcAft>
            </a:pPr>
            <a:r>
              <a:rPr sz="1500" b="0">
                <a:solidFill>
                  <a:srgbClr val="FFFFFF"/>
                </a:solidFill>
                <a:latin typeface="Arial"/>
              </a:rPr>
              <a:t>Sockets and headers only: through-hole soldering, one evening.</a:t>
            </a:r>
          </a:p>
        </p:txBody>
      </p:sp>
      <p:sp>
        <p:nvSpPr>
          <p:cNvPr id="5" name="TextBox 4"/>
          <p:cNvSpPr txBox="1"/>
          <p:nvPr/>
        </p:nvSpPr>
        <p:spPr>
          <a:xfrm>
            <a:off x="548640" y="356616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3  Load the firmware</a:t>
            </a:r>
          </a:p>
          <a:p>
            <a:pPr algn="l">
              <a:spcBef>
                <a:spcPts val="0"/>
              </a:spcBef>
              <a:spcAft>
                <a:spcPts val="400"/>
              </a:spcAft>
            </a:pPr>
            <a:r>
              <a:rPr sz="1500" b="0">
                <a:solidFill>
                  <a:srgbClr val="FFFFFF"/>
                </a:solidFill>
                <a:latin typeface="Arial"/>
              </a:rPr>
              <a:t>Once, over USB. After that, updates from your phone.</a:t>
            </a:r>
          </a:p>
        </p:txBody>
      </p:sp>
      <p:sp>
        <p:nvSpPr>
          <p:cNvPr id="6" name="TextBox 5"/>
          <p:cNvSpPr txBox="1"/>
          <p:nvPr/>
        </p:nvSpPr>
        <p:spPr>
          <a:xfrm>
            <a:off x="548640" y="461772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4  Set it up</a:t>
            </a:r>
          </a:p>
          <a:p>
            <a:pPr algn="l">
              <a:spcBef>
                <a:spcPts val="0"/>
              </a:spcBef>
              <a:spcAft>
                <a:spcPts val="400"/>
              </a:spcAft>
            </a:pPr>
            <a:r>
              <a:rPr sz="1500" b="0">
                <a:solidFill>
                  <a:srgbClr val="FFFFFF"/>
                </a:solidFill>
                <a:latin typeface="Arial"/>
              </a:rPr>
              <a:t>Pick your pages on the settings page. No code.</a:t>
            </a:r>
          </a:p>
        </p:txBody>
      </p:sp>
      <p:sp>
        <p:nvSpPr>
          <p:cNvPr id="7" name="TextBox 6"/>
          <p:cNvSpPr txBox="1"/>
          <p:nvPr/>
        </p:nvSpPr>
        <p:spPr>
          <a:xfrm>
            <a:off x="548640" y="5715000"/>
            <a:ext cx="6309360" cy="457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FFFF"/>
                </a:solidFill>
                <a:latin typeface="Arial"/>
              </a:rPr>
              <a:t>Starting in January. Say tonight if you want in.</a:t>
            </a:r>
          </a:p>
        </p:txBody>
      </p:sp>
      <p:pic>
        <p:nvPicPr>
          <p:cNvPr id="8" name="Picture 7" descr="boot-close-hand.jpg"/>
          <p:cNvPicPr>
            <a:picLocks noChangeAspect="1"/>
          </p:cNvPicPr>
          <p:nvPr/>
        </p:nvPicPr>
        <p:blipFill>
          <a:blip r:embed="rId2"/>
          <a:stretch>
            <a:fillRect/>
          </a:stretch>
        </p:blipFill>
        <p:spPr>
          <a:xfrm>
            <a:off x="7178040" y="1463040"/>
            <a:ext cx="4572000" cy="2571750"/>
          </a:xfrm>
          <a:prstGeom prst="rect">
            <a:avLst/>
          </a:prstGeom>
          <a:ln w="12700">
            <a:solidFill>
              <a:srgbClr val="5B9BD5"/>
            </a:solidFill>
          </a:ln>
        </p:spPr>
      </p:pic>
      <p:sp>
        <p:nvSpPr>
          <p:cNvPr id="9" name="TextBox 8"/>
          <p:cNvSpPr txBox="1"/>
          <p:nvPr/>
        </p:nvSpPr>
        <p:spPr>
          <a:xfrm>
            <a:off x="7178040" y="4171950"/>
            <a:ext cx="4572000" cy="1463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Boots with the club logo</a:t>
            </a:r>
          </a:p>
          <a:p>
            <a:pPr algn="l">
              <a:spcBef>
                <a:spcPts val="0"/>
              </a:spcBef>
              <a:spcAft>
                <a:spcPts val="400"/>
              </a:spcAft>
            </a:pPr>
            <a:r>
              <a:rPr sz="1400" b="0">
                <a:solidFill>
                  <a:srgbClr val="FFFFFF"/>
                </a:solidFill>
                <a:latin typeface="Arial"/>
              </a:rPr>
              <a:t>or any picture you upload. The module lifts out of its socket, so nothing is soldered that can’t be swapped.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Links and credits</a:t>
            </a:r>
          </a:p>
        </p:txBody>
      </p:sp>
      <p:pic>
        <p:nvPicPr>
          <p:cNvPr id="3" name="Picture 2" descr="qr-github.png"/>
          <p:cNvPicPr>
            <a:picLocks noChangeAspect="1"/>
          </p:cNvPicPr>
          <p:nvPr/>
        </p:nvPicPr>
        <p:blipFill>
          <a:blip r:embed="rId2"/>
          <a:stretch>
            <a:fillRect/>
          </a:stretch>
        </p:blipFill>
        <p:spPr>
          <a:xfrm>
            <a:off x="548640" y="1417320"/>
            <a:ext cx="2743200" cy="2743200"/>
          </a:xfrm>
          <a:prstGeom prst="rect">
            <a:avLst/>
          </a:prstGeom>
        </p:spPr>
      </p:pic>
      <p:sp>
        <p:nvSpPr>
          <p:cNvPr id="4" name="TextBox 3"/>
          <p:cNvSpPr txBox="1"/>
          <p:nvPr/>
        </p:nvSpPr>
        <p:spPr>
          <a:xfrm>
            <a:off x="3474720" y="1417320"/>
            <a:ext cx="3657600" cy="2743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Everything is on GitHub</a:t>
            </a:r>
          </a:p>
          <a:p>
            <a:pPr algn="l">
              <a:spcBef>
                <a:spcPts val="0"/>
              </a:spcBef>
              <a:spcAft>
                <a:spcPts val="400"/>
              </a:spcAft>
            </a:pPr>
            <a:r>
              <a:rPr sz="1600" b="0">
                <a:solidFill>
                  <a:srgbClr val="FFFFFF"/>
                </a:solidFill>
                <a:latin typeface="Arial"/>
              </a:rPr>
              <a:t>github.com/scottdube/hot-info-orbs</a:t>
            </a:r>
          </a:p>
          <a:p>
            <a:pPr algn="l">
              <a:spcBef>
                <a:spcPts val="0"/>
              </a:spcBef>
              <a:spcAft>
                <a:spcPts val="400"/>
              </a:spcAft>
            </a:pPr>
            <a:r>
              <a:rPr sz="1400" b="0">
                <a:solidFill>
                  <a:srgbClr val="BFC7D5"/>
                </a:solidFill>
                <a:latin typeface="Arial"/>
              </a:rPr>
              <a:t>Board files, firmware, build guide</a:t>
            </a:r>
          </a:p>
          <a:p>
            <a:pPr algn="l">
              <a:spcBef>
                <a:spcPts val="0"/>
              </a:spcBef>
              <a:spcAft>
                <a:spcPts val="400"/>
              </a:spcAft>
            </a:pPr>
            <a:r>
              <a:rPr sz="800" b="0">
                <a:solidFill>
                  <a:srgbClr val="FFFFFF"/>
                </a:solidFill>
                <a:latin typeface="Arial"/>
              </a:rPr>
              <a:t/>
            </a:r>
          </a:p>
          <a:p>
            <a:pPr algn="l">
              <a:spcBef>
                <a:spcPts val="0"/>
              </a:spcBef>
              <a:spcAft>
                <a:spcPts val="400"/>
              </a:spcAft>
            </a:pPr>
            <a:r>
              <a:rPr sz="1800" b="1">
                <a:solidFill>
                  <a:srgbClr val="FFC000"/>
                </a:solidFill>
                <a:latin typeface="Arial"/>
              </a:rPr>
              <a:t>Feature sheet</a:t>
            </a:r>
          </a:p>
          <a:p>
            <a:pPr algn="l">
              <a:spcBef>
                <a:spcPts val="0"/>
              </a:spcBef>
              <a:spcAft>
                <a:spcPts val="400"/>
              </a:spcAft>
            </a:pPr>
            <a:r>
              <a:rPr sz="1400" b="0">
                <a:solidFill>
                  <a:srgbClr val="FFFFFF"/>
                </a:solidFill>
                <a:latin typeface="Arial"/>
              </a:rPr>
              <a:t>scottdube.github.io/hot-info-orbs/features.html</a:t>
            </a:r>
          </a:p>
        </p:txBody>
      </p:sp>
      <p:sp>
        <p:nvSpPr>
          <p:cNvPr id="5" name="TextBox 4"/>
          <p:cNvSpPr txBox="1"/>
          <p:nvPr/>
        </p:nvSpPr>
        <p:spPr>
          <a:xfrm>
            <a:off x="7589520" y="1417320"/>
            <a:ext cx="4160520" cy="45720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Thanks to</a:t>
            </a:r>
          </a:p>
          <a:p>
            <a:pPr algn="l">
              <a:spcBef>
                <a:spcPts val="0"/>
              </a:spcBef>
              <a:spcAft>
                <a:spcPts val="400"/>
              </a:spcAft>
            </a:pPr>
            <a:r>
              <a:rPr sz="1500" b="1">
                <a:solidFill>
                  <a:srgbClr val="FFFFFF"/>
                </a:solidFill>
                <a:latin typeface="Arial"/>
              </a:rPr>
              <a:t>Brett Turner</a:t>
            </a:r>
            <a:r>
              <a:rPr sz="1500" b="0">
                <a:solidFill>
                  <a:srgbClr val="FFFFFF"/>
                </a:solidFill>
                <a:latin typeface="Arial"/>
              </a:rPr>
              <a:t>  Info Orbs, the original</a:t>
            </a:r>
          </a:p>
          <a:p>
            <a:pPr algn="l">
              <a:spcBef>
                <a:spcPts val="0"/>
              </a:spcBef>
              <a:spcAft>
                <a:spcPts val="400"/>
              </a:spcAft>
            </a:pPr>
            <a:r>
              <a:rPr sz="1500" b="1">
                <a:solidFill>
                  <a:srgbClr val="FFFFFF"/>
                </a:solidFill>
                <a:latin typeface="Arial"/>
              </a:rPr>
              <a:t>HackerBoxes</a:t>
            </a:r>
            <a:r>
              <a:rPr sz="1500" b="0">
                <a:solidFill>
                  <a:srgbClr val="FFFFFF"/>
                </a:solidFill>
                <a:latin typeface="Arial"/>
              </a:rPr>
              <a:t>  #0129 Orbital</a:t>
            </a:r>
          </a:p>
          <a:p>
            <a:pPr algn="l">
              <a:spcBef>
                <a:spcPts val="0"/>
              </a:spcBef>
              <a:spcAft>
                <a:spcPts val="400"/>
              </a:spcAft>
            </a:pPr>
            <a:r>
              <a:rPr sz="1500" b="1">
                <a:solidFill>
                  <a:srgbClr val="FFFFFF"/>
                </a:solidFill>
                <a:latin typeface="Arial"/>
              </a:rPr>
              <a:t>Donald Champion</a:t>
            </a:r>
            <a:r>
              <a:rPr sz="1500" b="0">
                <a:solidFill>
                  <a:srgbClr val="FFFFFF"/>
                </a:solidFill>
                <a:latin typeface="Arial"/>
              </a:rPr>
              <a:t>  HackerBox build photos</a:t>
            </a:r>
          </a:p>
          <a:p>
            <a:pPr algn="l">
              <a:spcBef>
                <a:spcPts val="0"/>
              </a:spcBef>
              <a:spcAft>
                <a:spcPts val="400"/>
              </a:spcAft>
            </a:pPr>
            <a:r>
              <a:rPr sz="1500" b="1">
                <a:solidFill>
                  <a:srgbClr val="FFFFFF"/>
                </a:solidFill>
                <a:latin typeface="Arial"/>
              </a:rPr>
              <a:t>Yang</a:t>
            </a:r>
            <a:r>
              <a:rPr sz="1500" b="0">
                <a:solidFill>
                  <a:srgbClr val="FFFFFF"/>
                </a:solidFill>
                <a:latin typeface="Arial"/>
              </a:rPr>
              <a:t>  enclosure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822960"/>
            <a:ext cx="10241280" cy="1280160"/>
          </a:xfrm>
        </p:spPr>
        <p:txBody>
          <a:bodyPr/>
          <a:lstStyle/>
          <a:p>
            <a:r>
              <a:t>Questions?</a:t>
            </a:r>
          </a:p>
        </p:txBody>
      </p:sp>
      <p:sp>
        <p:nvSpPr>
          <p:cNvPr id="3" name="Subtitle 2"/>
          <p:cNvSpPr>
            <a:spLocks noGrp="1"/>
          </p:cNvSpPr>
          <p:nvPr>
            <p:ph type="subTitle" idx="1"/>
          </p:nvPr>
        </p:nvSpPr>
        <p:spPr>
          <a:xfrm>
            <a:off x="548640" y="2103120"/>
            <a:ext cx="10241280" cy="731520"/>
          </a:xfrm>
        </p:spPr>
        <p:txBody>
          <a:bodyPr/>
          <a:lstStyle/>
          <a:p>
            <a:r>
              <a:rPr sz="2400"/>
              <a:t>The orb is on the table. Press the buttons.</a:t>
            </a:r>
          </a:p>
        </p:txBody>
      </p:sp>
      <p:pic>
        <p:nvPicPr>
          <p:cNvPr id="4" name="Picture 3" descr="c-clock-nixie.jpg"/>
          <p:cNvPicPr>
            <a:picLocks noChangeAspect="1"/>
          </p:cNvPicPr>
          <p:nvPr/>
        </p:nvPicPr>
        <p:blipFill>
          <a:blip r:embed="rId2"/>
          <a:stretch>
            <a:fillRect/>
          </a:stretch>
        </p:blipFill>
        <p:spPr>
          <a:xfrm>
            <a:off x="1069848" y="3017520"/>
            <a:ext cx="10058400" cy="2881312"/>
          </a:xfrm>
          <a:prstGeom prst="rect">
            <a:avLst/>
          </a:prstGeom>
          <a:ln w="12700">
            <a:solidFill>
              <a:srgbClr val="5B9BD5"/>
            </a:solidFill>
          </a:ln>
        </p:spPr>
      </p:pic>
      <p:sp>
        <p:nvSpPr>
          <p:cNvPr id="5" name="TextBox 4"/>
          <p:cNvSpPr txBox="1"/>
          <p:nvPr/>
        </p:nvSpPr>
        <p:spPr>
          <a:xfrm>
            <a:off x="548640" y="5989320"/>
            <a:ext cx="11064240" cy="457200"/>
          </a:xfrm>
          <a:prstGeom prst="rect">
            <a:avLst/>
          </a:prstGeom>
          <a:noFill/>
        </p:spPr>
        <p:txBody>
          <a:bodyPr wrap="square" lIns="45720" rIns="45720" tIns="27432" bIns="27432" anchor="t">
            <a:spAutoFit/>
          </a:bodyPr>
          <a:lstStyle/>
          <a:p>
            <a:pPr algn="ctr">
              <a:spcBef>
                <a:spcPts val="0"/>
              </a:spcBef>
              <a:spcAft>
                <a:spcPts val="400"/>
              </a:spcAft>
            </a:pPr>
            <a:r>
              <a:rPr sz="1600" b="0">
                <a:solidFill>
                  <a:srgbClr val="BFC7D5"/>
                </a:solidFill>
                <a:latin typeface="Arial"/>
              </a:rPr>
              <a:t>github.com/scottdube/hot-info-orbs</a:t>
            </a:r>
          </a:p>
        </p:txBody>
      </p:sp>
    </p:spTree>
  </p:cSld>
  <p:clrMapOvr>
    <a:masterClrMapping/>
  </p:clrMapOvr>
</p:sld>
</file>

<file path=ppt/theme/theme1.xml><?xml version="1.0" encoding="utf-8"?>
<a:theme xmlns:a="http://schemas.openxmlformats.org/drawingml/2006/main" name="SmComp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31DF536B-AF23-4944-92DE-B07CC1004F96}"/>
    </a:ext>
  </a:extLst>
</a:theme>
</file>

<file path=ppt/theme/theme2.xml><?xml version="1.0" encoding="utf-8"?>
<a:theme xmlns:a="http://schemas.openxmlformats.org/drawingml/2006/main" name="3D Printing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62AC4231-492B-44F9-A218-5EE17B47F7D3}"/>
    </a:ext>
  </a:extLst>
</a:theme>
</file>

<file path=ppt/theme/theme3.xml><?xml version="1.0" encoding="utf-8"?>
<a:theme xmlns:a="http://schemas.openxmlformats.org/drawingml/2006/main" name="H.O.T.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525D13EE-0638-420F-834C-916BA5AFFFE5}"/>
    </a:ext>
  </a:extLst>
</a:theme>
</file>

<file path=ppt/theme/theme4.xml><?xml version="1.0" encoding="utf-8"?>
<a:theme xmlns:a="http://schemas.openxmlformats.org/drawingml/2006/main" name="H.O.T. Light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OT Slide Template.potx" id="{07437C56-61E1-4525-8175-7BCF92195149}" vid="{F122644E-7F17-40F3-9A59-9AF2F7C6C03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24101</TotalTime>
  <Words>508</Words>
  <Application>Microsoft Office PowerPoint</Application>
  <PresentationFormat>Widescreen</PresentationFormat>
  <Paragraphs>43</Paragraphs>
  <Slides>7</Slides>
  <Notes>0</Notes>
  <HiddenSlides>1</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7</vt:i4>
      </vt:variant>
    </vt:vector>
  </HeadingPairs>
  <TitlesOfParts>
    <vt:vector size="14" baseType="lpstr">
      <vt:lpstr>Arial</vt:lpstr>
      <vt:lpstr>Calibri</vt:lpstr>
      <vt:lpstr>Stencil</vt:lpstr>
      <vt:lpstr>SmComp Dark Theme</vt:lpstr>
      <vt:lpstr>3D Printing Dark Theme</vt:lpstr>
      <vt:lpstr>H.O.T. Dark Theme</vt:lpstr>
      <vt:lpstr>H.O.T. Light Theme</vt:lpstr>
      <vt:lpstr>READ ME</vt:lpstr>
      <vt:lpstr>Welcome to H.O.T. www.handsontech.org</vt:lpstr>
      <vt:lpstr>One Hands-On Tech club Two Groups</vt:lpstr>
      <vt:lpstr>New to the club? Welcome!</vt:lpstr>
      <vt:lpstr>Club communications are via Email &amp; Web !</vt:lpstr>
      <vt:lpstr>How to use slide templates</vt:lpstr>
      <vt:lpstr>PowerPoint Presentation</vt:lpstr>
    </vt:vector>
  </TitlesOfParts>
  <Company>Zebra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Arduino IDE and IoT Button</dc:title>
  <dc:creator>Yangmin Shen</dc:creator>
  <cp:lastModifiedBy>Yangmin Shen</cp:lastModifiedBy>
  <cp:revision>1138</cp:revision>
  <cp:lastPrinted>2018-05-24T16:30:16Z</cp:lastPrinted>
  <dcterms:created xsi:type="dcterms:W3CDTF">2017-10-23T13:22:08Z</dcterms:created>
  <dcterms:modified xsi:type="dcterms:W3CDTF">2022-11-04T13:23:18Z</dcterms:modified>
</cp:coreProperties>
</file>